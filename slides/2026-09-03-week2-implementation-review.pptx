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E2761"/>
                </a:solidFill>
                <a:latin typeface="Calibri"/>
              </a:defRPr>
            </a:pPr>
            <a:r>
              <a:rPr sz="1500" b="0" i="0" u="none" strike="noStrike">
                <a:solidFill>
                  <a:srgbClr val="1E2761"/>
                </a:solidFill>
                <a:latin typeface="Calibri"/>
              </a:rPr>
              <a:t>Documents fetched per question</a:t>
            </a:r>
          </a:p>
        </c:rich>
      </c:tx>
      <c:layout/>
      <c:overlay val="0"/>
    </c:title>
    <c:autoTitleDeleted val="0"/>
    <c:plotArea>
      <c:layout/>
      <c:barChart>
        <c:barDir val="col"/>
        <c:grouping val="clustered"/>
        <c:varyColors val="0"/>
        <c:ser>
          <c:idx val="0"/>
          <c:order val="0"/>
          <c:tx>
            <c:strRef>
              <c:f>Sheet1!$B$1</c:f>
              <c:strCache>
                <c:ptCount val="1"/>
                <c:pt idx="0">
                  <c:v>Mean candidate pool size</c:v>
                </c:pt>
              </c:strCache>
            </c:strRef>
          </c:tx>
          <c:spPr>
            <a:solidFill>
              <a:srgbClr val="1C7293"/>
            </a:solidFill>
            <a:effectLst/>
          </c:spPr>
          <c:invertIfNegative val="0"/>
          <c:dLbls>
            <c:numFmt formatCode="0.0" sourceLinked="0"/>
            <c:txPr>
              <a:bodyPr/>
              <a:lstStyle/>
              <a:p>
                <a:pPr>
                  <a:defRPr b="0" i="0" strike="noStrike" sz="1500" u="none">
                    <a:solidFill>
                      <a:srgbClr val="1A1A1A"/>
                    </a:solidFill>
                    <a:latin typeface="Calibri"/>
                  </a:defRPr>
                </a:pPr>
              </a:p>
            </c:txPr>
            <c:showLegendKey val="0"/>
            <c:showVal val="1"/>
            <c:showCatName val="0"/>
            <c:showSerName val="0"/>
            <c:showPercent val="0"/>
            <c:showBubbleSize val="0"/>
            <c:showLeaderLines val="0"/>
          </c:dLbls>
          <c:dPt>
            <c:idx val="0"/>
            <c:invertIfNegative val="0"/>
            <c:bubble3D val="0"/>
            <c:spPr>
              <a:solidFill>
                <a:srgbClr val="1C7293"/>
              </a:solidFill>
              <a:effectLst/>
            </c:spPr>
          </c:dPt>
          <c:dPt>
            <c:idx val="1"/>
            <c:invertIfNegative val="0"/>
            <c:bubble3D val="0"/>
            <c:spPr>
              <a:solidFill>
                <a:srgbClr val="9AA7B4"/>
              </a:solidFill>
              <a:effectLst/>
            </c:spPr>
          </c:dPt>
          <c:cat>
            <c:multiLvlStrRef>
              <c:f>Sheet1!$A$2:$A$3</c:f>
              <c:multiLvlStrCache>
                <c:ptCount val="2"/>
                <c:lvl>
                  <c:pt idx="0">
                    <c:v>marag</c:v>
                  </c:pt>
                  <c:pt idx="1">
                    <c:v>single_agent</c:v>
                  </c:pt>
                </c:lvl>
              </c:multiLvlStrCache>
            </c:multiLvlStrRef>
          </c:cat>
          <c:val>
            <c:numRef>
              <c:f>Sheet1!$B$2:$B$3</c:f>
              <c:numCache>
                <c:formatCode>General</c:formatCode>
                <c:ptCount val="2"/>
                <c:pt idx="0">
                  <c:v>23.1</c:v>
                </c:pt>
                <c:pt idx="1">
                  <c:v>15.5</c:v>
                </c:pt>
              </c:numCache>
            </c:numRef>
          </c:val>
        </c:ser>
        <c:dLbls>
          <c:numFmt formatCode="0.0" sourceLinked="0"/>
          <c:txPr>
            <a:bodyPr/>
            <a:lstStyle/>
            <a:p>
              <a:pPr>
                <a:defRPr b="0" i="0" strike="noStrike" sz="1500" u="none">
                  <a:solidFill>
                    <a:srgbClr val="1A1A1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ax val="28"/>
          <c:min val="0"/>
        </c:scaling>
        <c:delete val="0"/>
        <c:axPos val="l"/>
        <c:majorGridlines>
          <c:spPr>
            <a:ln w="12700" cap="flat">
              <a:solidFill>
                <a:srgbClr val="DDE3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4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of 15. Focus deliverable this week: slides, README current, deployment at a public URL. The substantive news is that Phase 6 — the headline run at n=300 — finished, and it changes what we can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the strongest retrieval claim was at n=100, which a reviewer could dismiss as underpowered. That is now closed. The faithfulness number is the one that needs explaining, and slide 4 explains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Holm correction across the family, so these p-values are already adjusted for multiple comparisons. The faithfulness row splits: the template arm loses badly, the prose arm on identical retrieval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upgrades the claim. A null result invites 'your test cannot see the difference'. Here the arms demonstrably fetch different documents in two thirds of cases, and no metric moves. The coordination is doing work that does not show up as retrieval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n=100 this was a suspicion supported by three numbers. At n=300 it is a well-powered paired test. It is also a methodological warning for the rest of the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cautions are written into results/PROVENANCE.md next to the numbers themselves, so a reader who finds the table finds the caveat.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in its required location, not on a local machine. The git log and the status doc's own history are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OPENAI_API_KEY decision in this meeting — Phase 4 has been blocked on it for four days and it gates the independence claim in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822960" y="1828800"/>
            <a:ext cx="10545775" cy="457200"/>
          </a:xfrm>
          <a:prstGeom prst="rect">
            <a:avLst/>
          </a:prstGeom>
          <a:noFill/>
          <a:ln/>
        </p:spPr>
        <p:txBody>
          <a:bodyPr wrap="square" lIns="0" tIns="0" rIns="0" bIns="0" rtlCol="0" anchor="ctr"/>
          <a:lstStyle/>
          <a:p>
            <a:pPr indent="0" marL="0">
              <a:buNone/>
            </a:pPr>
            <a:r>
              <a:rPr lang="en-US" sz="1600" spc="200" kern="0" dirty="0">
                <a:solidFill>
                  <a:srgbClr val="CADCFC"/>
                </a:solidFill>
                <a:latin typeface="Calibri" pitchFamily="34" charset="0"/>
                <a:ea typeface="Calibri" pitchFamily="34" charset="-122"/>
                <a:cs typeface="Calibri" pitchFamily="34" charset="-120"/>
              </a:rPr>
              <a:t>Week 2 — Implementation Review</a:t>
            </a:r>
            <a:endParaRPr lang="en-US" sz="1600" dirty="0"/>
          </a:p>
        </p:txBody>
      </p:sp>
      <p:sp>
        <p:nvSpPr>
          <p:cNvPr id="3" name="Text 1"/>
          <p:cNvSpPr txBox="1"/>
          <p:nvPr/>
        </p:nvSpPr>
        <p:spPr>
          <a:xfrm>
            <a:off x="822960" y="2331720"/>
            <a:ext cx="10545775" cy="173736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The 300-question run,</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and what it settles</a:t>
            </a:r>
            <a:endParaRPr lang="en-US" sz="4600" dirty="0"/>
          </a:p>
        </p:txBody>
      </p:sp>
      <p:sp>
        <p:nvSpPr>
          <p:cNvPr id="4" name="Text 2"/>
          <p:cNvSpPr txBox="1"/>
          <p:nvPr/>
        </p:nvSpPr>
        <p:spPr>
          <a:xfrm>
            <a:off x="822960" y="4206240"/>
            <a:ext cx="10545775" cy="36576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Adaptive Multi-Agent RAG for Software Ecosystem Update Monitoring</a:t>
            </a:r>
            <a:endParaRPr lang="en-US" sz="1700" dirty="0"/>
          </a:p>
        </p:txBody>
      </p:sp>
      <p:sp>
        <p:nvSpPr>
          <p:cNvPr id="5" name="Text 3"/>
          <p:cNvSpPr txBox="1"/>
          <p:nvPr/>
        </p:nvSpPr>
        <p:spPr>
          <a:xfrm>
            <a:off x="822960" y="5120640"/>
            <a:ext cx="10545775" cy="82296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Shradha Devendra Pujari</a:t>
            </a:r>
            <a:endParaRPr lang="en-US" sz="1400" dirty="0"/>
          </a:p>
          <a:p>
            <a:pPr indent="0" marL="0">
              <a:buNone/>
            </a:pPr>
            <a:r>
              <a:rPr lang="en-US" sz="1400" dirty="0">
                <a:solidFill>
                  <a:srgbClr val="CADCFC"/>
                </a:solidFill>
                <a:latin typeface="Calibri" pitchFamily="34" charset="0"/>
                <a:ea typeface="Calibri" pitchFamily="34" charset="-122"/>
                <a:cs typeface="Calibri" pitchFamily="34" charset="-120"/>
              </a:rPr>
              <a:t>COMP 291 · Advisor: Dr. Solomon Berhe · University of the Pacific · 3 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82296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Three numbers from this week</a:t>
            </a:r>
            <a:endParaRPr lang="en-US" sz="3400" dirty="0"/>
          </a:p>
        </p:txBody>
      </p:sp>
      <p:sp>
        <p:nvSpPr>
          <p:cNvPr id="3" name="Text 1"/>
          <p:cNvSpPr txBox="1"/>
          <p:nvPr/>
        </p:nvSpPr>
        <p:spPr>
          <a:xfrm>
            <a:off x="640080" y="1234440"/>
            <a:ext cx="10911535" cy="411480"/>
          </a:xfrm>
          <a:prstGeom prst="rect">
            <a:avLst/>
          </a:prstGeom>
          <a:noFill/>
          <a:ln/>
        </p:spPr>
        <p:txBody>
          <a:bodyPr wrap="square" lIns="0" tIns="0" rIns="0" bIns="0" rtlCol="0" anchor="ctr"/>
          <a:lstStyle/>
          <a:p>
            <a:pPr indent="0" marL="0">
              <a:buNone/>
            </a:pPr>
            <a:r>
              <a:rPr lang="en-US" sz="1500" i="1" dirty="0">
                <a:solidFill>
                  <a:srgbClr val="5C6470"/>
                </a:solidFill>
                <a:latin typeface="Calibri" pitchFamily="34" charset="0"/>
                <a:ea typeface="Calibri" pitchFamily="34" charset="-122"/>
                <a:cs typeface="Calibri" pitchFamily="34" charset="-120"/>
              </a:rPr>
              <a:t>run_1788302755_7cdc5685d75a — the whole benchmark, three arms, synthesis model held constant</a:t>
            </a:r>
            <a:endParaRPr lang="en-US" sz="1500" dirty="0"/>
          </a:p>
        </p:txBody>
      </p:sp>
      <p:sp>
        <p:nvSpPr>
          <p:cNvPr id="4" name="Shape 2"/>
          <p:cNvSpPr/>
          <p:nvPr/>
        </p:nvSpPr>
        <p:spPr>
          <a:xfrm>
            <a:off x="640080" y="2011680"/>
            <a:ext cx="3474720" cy="2651760"/>
          </a:xfrm>
          <a:prstGeom prst="roundRect">
            <a:avLst>
              <a:gd name="adj" fmla="val 3448"/>
            </a:avLst>
          </a:prstGeom>
          <a:solidFill>
            <a:srgbClr val="F4F7FB"/>
          </a:solidFill>
          <a:ln w="12700">
            <a:solidFill>
              <a:srgbClr val="DDE3EC"/>
            </a:solidFill>
            <a:prstDash val="solid"/>
          </a:ln>
        </p:spPr>
      </p:sp>
      <p:sp>
        <p:nvSpPr>
          <p:cNvPr id="5" name="Text 3"/>
          <p:cNvSpPr txBox="1"/>
          <p:nvPr/>
        </p:nvSpPr>
        <p:spPr>
          <a:xfrm>
            <a:off x="914400" y="2240280"/>
            <a:ext cx="2926080" cy="914400"/>
          </a:xfrm>
          <a:prstGeom prst="rect">
            <a:avLst/>
          </a:prstGeom>
          <a:noFill/>
          <a:ln/>
        </p:spPr>
        <p:txBody>
          <a:bodyPr wrap="square" lIns="0" tIns="0" rIns="0" bIns="0" rtlCol="0" anchor="ctr"/>
          <a:lstStyle/>
          <a:p>
            <a:pPr indent="0" marL="0">
              <a:buNone/>
            </a:pPr>
            <a:r>
              <a:rPr lang="en-US" sz="4800" b="1" dirty="0">
                <a:solidFill>
                  <a:srgbClr val="1E2761"/>
                </a:solidFill>
                <a:latin typeface="Cambria" pitchFamily="34" charset="0"/>
                <a:ea typeface="Cambria" pitchFamily="34" charset="-122"/>
                <a:cs typeface="Cambria" pitchFamily="34" charset="-120"/>
              </a:rPr>
              <a:t>300</a:t>
            </a:r>
            <a:endParaRPr lang="en-US" sz="4800" dirty="0"/>
          </a:p>
        </p:txBody>
      </p:sp>
      <p:sp>
        <p:nvSpPr>
          <p:cNvPr id="6" name="Text 4"/>
          <p:cNvSpPr txBox="1"/>
          <p:nvPr/>
        </p:nvSpPr>
        <p:spPr>
          <a:xfrm>
            <a:off x="914400" y="3200400"/>
            <a:ext cx="2926080" cy="36576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questions, all three arms</a:t>
            </a:r>
            <a:endParaRPr lang="en-US" sz="1400" dirty="0"/>
          </a:p>
        </p:txBody>
      </p:sp>
      <p:sp>
        <p:nvSpPr>
          <p:cNvPr id="7" name="Text 5"/>
          <p:cNvSpPr txBox="1"/>
          <p:nvPr/>
        </p:nvSpPr>
        <p:spPr>
          <a:xfrm>
            <a:off x="914400" y="3611880"/>
            <a:ext cx="2926080" cy="91440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Phase 6 complete. 24 ecosystems, the whole file, no sampling.</a:t>
            </a:r>
            <a:endParaRPr lang="en-US" sz="1300" dirty="0"/>
          </a:p>
        </p:txBody>
      </p:sp>
      <p:sp>
        <p:nvSpPr>
          <p:cNvPr id="8" name="Shape 6"/>
          <p:cNvSpPr/>
          <p:nvPr/>
        </p:nvSpPr>
        <p:spPr>
          <a:xfrm>
            <a:off x="4416552" y="2011680"/>
            <a:ext cx="3474720" cy="2651760"/>
          </a:xfrm>
          <a:prstGeom prst="roundRect">
            <a:avLst>
              <a:gd name="adj" fmla="val 3448"/>
            </a:avLst>
          </a:prstGeom>
          <a:solidFill>
            <a:srgbClr val="F4F7FB"/>
          </a:solidFill>
          <a:ln w="12700">
            <a:solidFill>
              <a:srgbClr val="DDE3EC"/>
            </a:solidFill>
            <a:prstDash val="solid"/>
          </a:ln>
        </p:spPr>
      </p:sp>
      <p:sp>
        <p:nvSpPr>
          <p:cNvPr id="9" name="Text 7"/>
          <p:cNvSpPr txBox="1"/>
          <p:nvPr/>
        </p:nvSpPr>
        <p:spPr>
          <a:xfrm>
            <a:off x="4690872" y="2240280"/>
            <a:ext cx="2926080" cy="914400"/>
          </a:xfrm>
          <a:prstGeom prst="rect">
            <a:avLst/>
          </a:prstGeom>
          <a:noFill/>
          <a:ln/>
        </p:spPr>
        <p:txBody>
          <a:bodyPr wrap="square" lIns="0" tIns="0" rIns="0" bIns="0" rtlCol="0" anchor="ctr"/>
          <a:lstStyle/>
          <a:p>
            <a:pPr indent="0" marL="0">
              <a:buNone/>
            </a:pPr>
            <a:r>
              <a:rPr lang="en-US" sz="4800" b="1" dirty="0">
                <a:solidFill>
                  <a:srgbClr val="1C7293"/>
                </a:solidFill>
                <a:latin typeface="Cambria" pitchFamily="34" charset="0"/>
                <a:ea typeface="Cambria" pitchFamily="34" charset="-122"/>
                <a:cs typeface="Cambria" pitchFamily="34" charset="-120"/>
              </a:rPr>
              <a:t>p = 0.30</a:t>
            </a:r>
            <a:endParaRPr lang="en-US" sz="4800" dirty="0"/>
          </a:p>
        </p:txBody>
      </p:sp>
      <p:sp>
        <p:nvSpPr>
          <p:cNvPr id="10" name="Text 8"/>
          <p:cNvSpPr txBox="1"/>
          <p:nvPr/>
        </p:nvSpPr>
        <p:spPr>
          <a:xfrm>
            <a:off x="4690872" y="3200400"/>
            <a:ext cx="2926080" cy="36576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best retrieval metric</a:t>
            </a:r>
            <a:endParaRPr lang="en-US" sz="1400" dirty="0"/>
          </a:p>
        </p:txBody>
      </p:sp>
      <p:sp>
        <p:nvSpPr>
          <p:cNvPr id="11" name="Text 9"/>
          <p:cNvSpPr txBox="1"/>
          <p:nvPr/>
        </p:nvSpPr>
        <p:spPr>
          <a:xfrm>
            <a:off x="4690872" y="3611880"/>
            <a:ext cx="2926080" cy="91440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Every retrieval metric null under Holm-corrected paired Wilcoxon.</a:t>
            </a:r>
            <a:endParaRPr lang="en-US" sz="1300" dirty="0"/>
          </a:p>
        </p:txBody>
      </p:sp>
      <p:sp>
        <p:nvSpPr>
          <p:cNvPr id="12" name="Shape 10"/>
          <p:cNvSpPr/>
          <p:nvPr/>
        </p:nvSpPr>
        <p:spPr>
          <a:xfrm>
            <a:off x="8193024" y="2011680"/>
            <a:ext cx="3474720" cy="2651760"/>
          </a:xfrm>
          <a:prstGeom prst="roundRect">
            <a:avLst>
              <a:gd name="adj" fmla="val 3448"/>
            </a:avLst>
          </a:prstGeom>
          <a:solidFill>
            <a:srgbClr val="F4F7FB"/>
          </a:solidFill>
          <a:ln w="12700">
            <a:solidFill>
              <a:srgbClr val="DDE3EC"/>
            </a:solidFill>
            <a:prstDash val="solid"/>
          </a:ln>
        </p:spPr>
      </p:sp>
      <p:sp>
        <p:nvSpPr>
          <p:cNvPr id="13" name="Text 11"/>
          <p:cNvSpPr txBox="1"/>
          <p:nvPr/>
        </p:nvSpPr>
        <p:spPr>
          <a:xfrm>
            <a:off x="8467344" y="2240280"/>
            <a:ext cx="2926080" cy="914400"/>
          </a:xfrm>
          <a:prstGeom prst="rect">
            <a:avLst/>
          </a:prstGeom>
          <a:noFill/>
          <a:ln/>
        </p:spPr>
        <p:txBody>
          <a:bodyPr wrap="square" lIns="0" tIns="0" rIns="0" bIns="0" rtlCol="0" anchor="ctr"/>
          <a:lstStyle/>
          <a:p>
            <a:pPr indent="0" marL="0">
              <a:buNone/>
            </a:pPr>
            <a:r>
              <a:rPr lang="en-US" sz="4800" b="1" dirty="0">
                <a:solidFill>
                  <a:srgbClr val="C1443C"/>
                </a:solidFill>
                <a:latin typeface="Cambria" pitchFamily="34" charset="0"/>
                <a:ea typeface="Cambria" pitchFamily="34" charset="-122"/>
                <a:cs typeface="Cambria" pitchFamily="34" charset="-120"/>
              </a:rPr>
              <a:t>− 0.196</a:t>
            </a:r>
            <a:endParaRPr lang="en-US" sz="4800" dirty="0"/>
          </a:p>
        </p:txBody>
      </p:sp>
      <p:sp>
        <p:nvSpPr>
          <p:cNvPr id="14" name="Text 12"/>
          <p:cNvSpPr txBox="1"/>
          <p:nvPr/>
        </p:nvSpPr>
        <p:spPr>
          <a:xfrm>
            <a:off x="8467344" y="3200400"/>
            <a:ext cx="2926080" cy="36576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faithfulness, template arm</a:t>
            </a:r>
            <a:endParaRPr lang="en-US" sz="1400" dirty="0"/>
          </a:p>
        </p:txBody>
      </p:sp>
      <p:sp>
        <p:nvSpPr>
          <p:cNvPr id="15" name="Text 13"/>
          <p:cNvSpPr txBox="1"/>
          <p:nvPr/>
        </p:nvSpPr>
        <p:spPr>
          <a:xfrm>
            <a:off x="8467344" y="3611880"/>
            <a:ext cx="2926080" cy="91440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p &lt; 0.001 — and it is answer format, not grounding.</a:t>
            </a:r>
            <a:endParaRPr lang="en-US" sz="1300" dirty="0"/>
          </a:p>
        </p:txBody>
      </p:sp>
      <p:sp>
        <p:nvSpPr>
          <p:cNvPr id="16" name="Text 14"/>
          <p:cNvSpPr txBox="1"/>
          <p:nvPr/>
        </p:nvSpPr>
        <p:spPr>
          <a:xfrm>
            <a:off x="640080" y="5029200"/>
            <a:ext cx="10911535" cy="457200"/>
          </a:xfrm>
          <a:prstGeom prst="rect">
            <a:avLst/>
          </a:prstGeom>
          <a:noFill/>
          <a:ln/>
        </p:spPr>
        <p:txBody>
          <a:bodyPr wrap="square" lIns="0" tIns="0" rIns="0" bIns="0" rtlCol="0" anchor="ctr"/>
          <a:lstStyle/>
          <a:p>
            <a:pPr indent="0" marL="0">
              <a:buNone/>
            </a:pPr>
            <a:r>
              <a:rPr lang="en-US" sz="1600" i="1" dirty="0">
                <a:solidFill>
                  <a:srgbClr val="1E2761"/>
                </a:solidFill>
                <a:latin typeface="Calibri" pitchFamily="34" charset="0"/>
                <a:ea typeface="Calibri" pitchFamily="34" charset="-122"/>
                <a:cs typeface="Calibri" pitchFamily="34" charset="-120"/>
              </a:rPr>
              <a:t>The parity result is now well-powered. “Underpowered at n = 100” is no longer an available objection.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82296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Finding 6 — retrieval is null across the board</a:t>
            </a:r>
            <a:endParaRPr lang="en-US" sz="3400" dirty="0"/>
          </a:p>
        </p:txBody>
      </p:sp>
      <p:sp>
        <p:nvSpPr>
          <p:cNvPr id="3" name="Text 1"/>
          <p:cNvSpPr txBox="1"/>
          <p:nvPr/>
        </p:nvSpPr>
        <p:spPr>
          <a:xfrm>
            <a:off x="640080" y="1234440"/>
            <a:ext cx="10911535" cy="411480"/>
          </a:xfrm>
          <a:prstGeom prst="rect">
            <a:avLst/>
          </a:prstGeom>
          <a:noFill/>
          <a:ln/>
        </p:spPr>
        <p:txBody>
          <a:bodyPr wrap="square" lIns="0" tIns="0" rIns="0" bIns="0" rtlCol="0" anchor="ctr"/>
          <a:lstStyle/>
          <a:p>
            <a:pPr indent="0" marL="0">
              <a:buNone/>
            </a:pPr>
            <a:r>
              <a:rPr lang="en-US" sz="1500" i="1" dirty="0">
                <a:solidFill>
                  <a:srgbClr val="5C6470"/>
                </a:solidFill>
                <a:latin typeface="Calibri" pitchFamily="34" charset="0"/>
                <a:ea typeface="Calibri" pitchFamily="34" charset="-122"/>
                <a:cs typeface="Calibri" pitchFamily="34" charset="-120"/>
              </a:rPr>
              <a:t>Paired Wilcoxon vs single_agent, Holm-corrected across the metric family, n = 300</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11535" cy="914400"/>
        </p:xfrm>
        <a:graphic>
          <a:graphicData uri="http://schemas.openxmlformats.org/drawingml/2006/table">
            <a:tbl>
              <a:tblPr/>
              <a:tblGrid>
                <a:gridCol w="2377440"/>
                <a:gridCol w="2011680"/>
                <a:gridCol w="2194560"/>
                <a:gridCol w="2103120"/>
                <a:gridCol w="2221992"/>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marag Δ</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marag_llm Δ</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 (Holm)</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 / T / L (marag)</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E2761"/>
                    </a:solidFill>
                  </a:tcPr>
                </a:tc>
              </a:tr>
              <a:tr h="411480">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nDCG@3</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+0.009</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+0.006</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0.302</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16 / 269 / 15</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nDCG@5</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4F7FB"/>
                    </a:solidFill>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+0.001</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4F7FB"/>
                    </a:solidFill>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−0.002</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4F7FB"/>
                    </a:solidFill>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4F7FB"/>
                    </a:solidFill>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20 / 250 / 30</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4F7FB"/>
                    </a:solidFill>
                  </a:tcPr>
                </a:tc>
              </a:tr>
              <a:tr h="411480">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Recall@5</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−0.011</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−0.013</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0.502</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12 / 267 / 21</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MRR</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4F7FB"/>
                    </a:solidFill>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+0.006</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4F7FB"/>
                    </a:solidFill>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+0.006</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4F7FB"/>
                    </a:solidFill>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0.667</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4F7FB"/>
                    </a:solidFill>
                  </a:tcPr>
                </a:tc>
                <a:tc>
                  <a:txBody>
                    <a:bodyPr/>
                    <a:lstStyle/>
                    <a:p>
                      <a:pPr algn="r" indent="0" marL="0">
                        <a:buNone/>
                      </a:pPr>
                      <a:r>
                        <a:rPr lang="en-US" sz="1400" dirty="0">
                          <a:solidFill>
                            <a:srgbClr val="1A1A1A"/>
                          </a:solidFill>
                          <a:latin typeface="Calibri" pitchFamily="34" charset="0"/>
                          <a:ea typeface="Calibri" pitchFamily="34" charset="-122"/>
                          <a:cs typeface="Calibri" pitchFamily="34" charset="-120"/>
                        </a:rPr>
                        <a:t>4 / 290 / 6</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4F7FB"/>
                    </a:solidFill>
                  </a:tcPr>
                </a:tc>
              </a:tr>
              <a:tr h="411480">
                <a:tc>
                  <a:txBody>
                    <a:bodyPr/>
                    <a:lstStyle/>
                    <a:p>
                      <a:pPr algn="l" indent="0" marL="0">
                        <a:buNone/>
                      </a:pPr>
                      <a:r>
                        <a:rPr lang="en-US" sz="1400" b="1" dirty="0">
                          <a:solidFill>
                            <a:srgbClr val="C1443C"/>
                          </a:solidFill>
                          <a:latin typeface="Calibri" pitchFamily="34" charset="0"/>
                          <a:ea typeface="Calibri" pitchFamily="34" charset="-122"/>
                          <a:cs typeface="Calibri" pitchFamily="34" charset="-120"/>
                        </a:rPr>
                        <a:t>Faithfulness</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C1443C"/>
                          </a:solidFill>
                          <a:latin typeface="Calibri" pitchFamily="34" charset="0"/>
                          <a:ea typeface="Calibri" pitchFamily="34" charset="-122"/>
                          <a:cs typeface="Calibri" pitchFamily="34" charset="-120"/>
                        </a:rPr>
                        <a:t>−0.196</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C1443C"/>
                          </a:solidFill>
                          <a:latin typeface="Calibri" pitchFamily="34" charset="0"/>
                          <a:ea typeface="Calibri" pitchFamily="34" charset="-122"/>
                          <a:cs typeface="Calibri" pitchFamily="34" charset="-120"/>
                        </a:rPr>
                        <a:t>+0.002</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C1443C"/>
                          </a:solidFill>
                          <a:latin typeface="Calibri" pitchFamily="34" charset="0"/>
                          <a:ea typeface="Calibri" pitchFamily="34" charset="-122"/>
                          <a:cs typeface="Calibri" pitchFamily="34" charset="-120"/>
                        </a:rPr>
                        <a:t>&lt;0.001 / 0.787</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C1443C"/>
                          </a:solidFill>
                          <a:latin typeface="Calibri" pitchFamily="34" charset="0"/>
                          <a:ea typeface="Calibri" pitchFamily="34" charset="-122"/>
                          <a:cs typeface="Calibri" pitchFamily="34" charset="-120"/>
                        </a:rPr>
                        <a:t>33 / 50 / 217</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5029200"/>
            <a:ext cx="10911535" cy="54864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Read the tie column. </a:t>
            </a:r>
            <a:pPr indent="0" marL="0">
              <a:buNone/>
            </a:pPr>
            <a:r>
              <a:rPr lang="en-US" sz="1600" dirty="0">
                <a:solidFill>
                  <a:srgbClr val="1E2761"/>
                </a:solidFill>
                <a:latin typeface="Calibri" pitchFamily="34" charset="0"/>
                <a:ea typeface="Calibri" pitchFamily="34" charset="-122"/>
                <a:cs typeface="Calibri" pitchFamily="34" charset="-120"/>
              </a:rPr>
              <a:t>250–290 of 300 questions score identically on every retrieval metric. The one row that moves is not a retrieval row.</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82296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The tie is not the benchmark failing to discriminate</a:t>
            </a:r>
            <a:endParaRPr lang="en-US" sz="3400" dirty="0"/>
          </a:p>
        </p:txBody>
      </p:sp>
      <p:sp>
        <p:nvSpPr>
          <p:cNvPr id="3" name="Text 1"/>
          <p:cNvSpPr txBox="1"/>
          <p:nvPr/>
        </p:nvSpPr>
        <p:spPr>
          <a:xfrm>
            <a:off x="640080" y="1234440"/>
            <a:ext cx="10911535" cy="411480"/>
          </a:xfrm>
          <a:prstGeom prst="rect">
            <a:avLst/>
          </a:prstGeom>
          <a:noFill/>
          <a:ln/>
        </p:spPr>
        <p:txBody>
          <a:bodyPr wrap="square" lIns="0" tIns="0" rIns="0" bIns="0" rtlCol="0" anchor="ctr"/>
          <a:lstStyle/>
          <a:p>
            <a:pPr indent="0" marL="0">
              <a:buNone/>
            </a:pPr>
            <a:r>
              <a:rPr lang="en-US" sz="1500" i="1" dirty="0">
                <a:solidFill>
                  <a:srgbClr val="5C6470"/>
                </a:solidFill>
                <a:latin typeface="Calibri" pitchFamily="34" charset="0"/>
                <a:ea typeface="Calibri" pitchFamily="34" charset="-122"/>
                <a:cs typeface="Calibri" pitchFamily="34" charset="-120"/>
              </a:rPr>
              <a:t>The obvious objection to a wall of ties — “both arms retrieve the same documents” — does not hold here</a:t>
            </a:r>
            <a:endParaRPr lang="en-US" sz="1500" dirty="0"/>
          </a:p>
        </p:txBody>
      </p:sp>
      <p:graphicFrame>
        <p:nvGraphicFramePr>
          <p:cNvPr id="4" name="Chart 0" descr=""/>
          <p:cNvGraphicFramePr/>
          <p:nvPr/>
        </p:nvGraphicFramePr>
        <p:xfrm>
          <a:off x="640080" y="196596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126480" y="2148840"/>
            <a:ext cx="1371600" cy="45720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33.3%</a:t>
            </a:r>
            <a:endParaRPr lang="en-US" sz="2600" dirty="0"/>
          </a:p>
        </p:txBody>
      </p:sp>
      <p:sp>
        <p:nvSpPr>
          <p:cNvPr id="6" name="Text 3"/>
          <p:cNvSpPr txBox="1"/>
          <p:nvPr/>
        </p:nvSpPr>
        <p:spPr>
          <a:xfrm>
            <a:off x="7589520" y="2167128"/>
            <a:ext cx="3931920" cy="86868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of questions return an identical top-k list across the two arms.</a:t>
            </a:r>
            <a:endParaRPr lang="en-US" sz="1400" dirty="0"/>
          </a:p>
        </p:txBody>
      </p:sp>
      <p:sp>
        <p:nvSpPr>
          <p:cNvPr id="7" name="Text 4"/>
          <p:cNvSpPr txBox="1"/>
          <p:nvPr/>
        </p:nvSpPr>
        <p:spPr>
          <a:xfrm>
            <a:off x="6126480" y="3200400"/>
            <a:ext cx="1371600" cy="45720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65.0%</a:t>
            </a:r>
            <a:endParaRPr lang="en-US" sz="2600" dirty="0"/>
          </a:p>
        </p:txBody>
      </p:sp>
      <p:sp>
        <p:nvSpPr>
          <p:cNvPr id="8" name="Text 5"/>
          <p:cNvSpPr txBox="1"/>
          <p:nvPr/>
        </p:nvSpPr>
        <p:spPr>
          <a:xfrm>
            <a:off x="7589520" y="3218688"/>
            <a:ext cx="3931920" cy="86868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retrieve materially different documents — and still score the same.</a:t>
            </a:r>
            <a:endParaRPr lang="en-US" sz="1400" dirty="0"/>
          </a:p>
        </p:txBody>
      </p:sp>
      <p:sp>
        <p:nvSpPr>
          <p:cNvPr id="9" name="Text 6"/>
          <p:cNvSpPr txBox="1"/>
          <p:nvPr/>
        </p:nvSpPr>
        <p:spPr>
          <a:xfrm>
            <a:off x="6126480" y="4251960"/>
            <a:ext cx="1371600" cy="45720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1.5×</a:t>
            </a:r>
            <a:endParaRPr lang="en-US" sz="2600" dirty="0"/>
          </a:p>
        </p:txBody>
      </p:sp>
      <p:sp>
        <p:nvSpPr>
          <p:cNvPr id="10" name="Text 7"/>
          <p:cNvSpPr txBox="1"/>
          <p:nvPr/>
        </p:nvSpPr>
        <p:spPr>
          <a:xfrm>
            <a:off x="7589520" y="4270248"/>
            <a:ext cx="3931920" cy="86868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the candidate pool, half again as many documents, moving nothing.</a:t>
            </a:r>
            <a:endParaRPr lang="en-US" sz="1400" dirty="0"/>
          </a:p>
        </p:txBody>
      </p:sp>
      <p:sp>
        <p:nvSpPr>
          <p:cNvPr id="11" name="Text 8"/>
          <p:cNvSpPr txBox="1"/>
          <p:nvPr/>
        </p:nvSpPr>
        <p:spPr>
          <a:xfrm>
            <a:off x="6126480" y="5349240"/>
            <a:ext cx="5394960" cy="548640"/>
          </a:xfrm>
          <a:prstGeom prst="rect">
            <a:avLst/>
          </a:prstGeom>
          <a:noFill/>
          <a:ln/>
        </p:spPr>
        <p:txBody>
          <a:bodyPr wrap="square" lIns="0" tIns="0" rIns="0" bIns="0" rtlCol="0" anchor="ctr"/>
          <a:lstStyle/>
          <a:p>
            <a:pPr indent="0" marL="0">
              <a:buNone/>
            </a:pPr>
            <a:r>
              <a:rPr lang="en-US" sz="1500" b="1" i="1" dirty="0">
                <a:solidFill>
                  <a:srgbClr val="1C7293"/>
                </a:solidFill>
                <a:latin typeface="Calibri" pitchFamily="34" charset="0"/>
                <a:ea typeface="Calibri" pitchFamily="34" charset="-122"/>
                <a:cs typeface="Calibri" pitchFamily="34" charset="-120"/>
              </a:rPr>
              <a:t>The extra retrieval is real, and it is inert. That is a stronger statement than parity.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82296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The faithfulness gap is answer format, confirmed</a:t>
            </a:r>
            <a:endParaRPr lang="en-US" sz="3400" dirty="0"/>
          </a:p>
        </p:txBody>
      </p:sp>
      <p:sp>
        <p:nvSpPr>
          <p:cNvPr id="3" name="Text 1"/>
          <p:cNvSpPr txBox="1"/>
          <p:nvPr/>
        </p:nvSpPr>
        <p:spPr>
          <a:xfrm>
            <a:off x="640080" y="1234440"/>
            <a:ext cx="10911535" cy="411480"/>
          </a:xfrm>
          <a:prstGeom prst="rect">
            <a:avLst/>
          </a:prstGeom>
          <a:noFill/>
          <a:ln/>
        </p:spPr>
        <p:txBody>
          <a:bodyPr wrap="square" lIns="0" tIns="0" rIns="0" bIns="0" rtlCol="0" anchor="ctr"/>
          <a:lstStyle/>
          <a:p>
            <a:pPr indent="0" marL="0">
              <a:buNone/>
            </a:pPr>
            <a:r>
              <a:rPr lang="en-US" sz="1500" i="1" dirty="0">
                <a:solidFill>
                  <a:srgbClr val="5C6470"/>
                </a:solidFill>
                <a:latin typeface="Calibri" pitchFamily="34" charset="0"/>
                <a:ea typeface="Calibri" pitchFamily="34" charset="-122"/>
                <a:cs typeface="Calibri" pitchFamily="34" charset="-120"/>
              </a:rPr>
              <a:t>Same retrieval, same judge, same model — only the presentation differs</a:t>
            </a:r>
            <a:endParaRPr lang="en-US" sz="1500" dirty="0"/>
          </a:p>
        </p:txBody>
      </p:sp>
      <p:sp>
        <p:nvSpPr>
          <p:cNvPr id="4" name="Shape 2"/>
          <p:cNvSpPr/>
          <p:nvPr/>
        </p:nvSpPr>
        <p:spPr>
          <a:xfrm>
            <a:off x="640080" y="2011680"/>
            <a:ext cx="5212080" cy="2606040"/>
          </a:xfrm>
          <a:prstGeom prst="roundRect">
            <a:avLst>
              <a:gd name="adj" fmla="val 3509"/>
            </a:avLst>
          </a:prstGeom>
          <a:solidFill>
            <a:srgbClr val="F4F7FB"/>
          </a:solidFill>
          <a:ln w="12700">
            <a:solidFill>
              <a:srgbClr val="DDE3EC"/>
            </a:solidFill>
            <a:prstDash val="solid"/>
          </a:ln>
        </p:spPr>
      </p:sp>
      <p:sp>
        <p:nvSpPr>
          <p:cNvPr id="5" name="Text 3"/>
          <p:cNvSpPr txBox="1"/>
          <p:nvPr/>
        </p:nvSpPr>
        <p:spPr>
          <a:xfrm>
            <a:off x="960120" y="2240280"/>
            <a:ext cx="457200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Structured template</a:t>
            </a:r>
            <a:endParaRPr lang="en-US" sz="1500" dirty="0"/>
          </a:p>
        </p:txBody>
      </p:sp>
      <p:sp>
        <p:nvSpPr>
          <p:cNvPr id="6" name="Text 4"/>
          <p:cNvSpPr txBox="1"/>
          <p:nvPr/>
        </p:nvSpPr>
        <p:spPr>
          <a:xfrm>
            <a:off x="960120" y="2651760"/>
            <a:ext cx="4572000" cy="777240"/>
          </a:xfrm>
          <a:prstGeom prst="rect">
            <a:avLst/>
          </a:prstGeom>
          <a:noFill/>
          <a:ln/>
        </p:spPr>
        <p:txBody>
          <a:bodyPr wrap="square" lIns="0" tIns="0" rIns="0" bIns="0" rtlCol="0" anchor="ctr"/>
          <a:lstStyle/>
          <a:p>
            <a:pPr indent="0" marL="0">
              <a:buNone/>
            </a:pPr>
            <a:r>
              <a:rPr lang="en-US" sz="4200" b="1" dirty="0">
                <a:solidFill>
                  <a:srgbClr val="C1443C"/>
                </a:solidFill>
                <a:latin typeface="Cambria" pitchFamily="34" charset="0"/>
                <a:ea typeface="Cambria" pitchFamily="34" charset="-122"/>
                <a:cs typeface="Cambria" pitchFamily="34" charset="-120"/>
              </a:rPr>
              <a:t>−0.196</a:t>
            </a:r>
            <a:endParaRPr lang="en-US" sz="4200" dirty="0"/>
          </a:p>
        </p:txBody>
      </p:sp>
      <p:sp>
        <p:nvSpPr>
          <p:cNvPr id="7" name="Text 5"/>
          <p:cNvSpPr txBox="1"/>
          <p:nvPr/>
        </p:nvSpPr>
        <p:spPr>
          <a:xfrm>
            <a:off x="960120" y="3474720"/>
            <a:ext cx="4572000" cy="320040"/>
          </a:xfrm>
          <a:prstGeom prst="rect">
            <a:avLst/>
          </a:prstGeom>
          <a:noFill/>
          <a:ln/>
        </p:spPr>
        <p:txBody>
          <a:bodyPr wrap="square" lIns="0" tIns="0" rIns="0" bIns="0" rtlCol="0" anchor="ctr"/>
          <a:lstStyle/>
          <a:p>
            <a:pPr indent="0" marL="0">
              <a:buNone/>
            </a:pPr>
            <a:r>
              <a:rPr lang="en-US" sz="1300" b="1" dirty="0">
                <a:solidFill>
                  <a:srgbClr val="C1443C"/>
                </a:solidFill>
                <a:latin typeface="Calibri" pitchFamily="34" charset="0"/>
                <a:ea typeface="Calibri" pitchFamily="34" charset="-122"/>
                <a:cs typeface="Calibri" pitchFamily="34" charset="-120"/>
              </a:rPr>
              <a:t>p &lt; 0.001 · lost on 217 of 300</a:t>
            </a:r>
            <a:endParaRPr lang="en-US" sz="1300" dirty="0"/>
          </a:p>
        </p:txBody>
      </p:sp>
      <p:sp>
        <p:nvSpPr>
          <p:cNvPr id="8" name="Text 6"/>
          <p:cNvSpPr txBox="1"/>
          <p:nvPr/>
        </p:nvSpPr>
        <p:spPr>
          <a:xfrm>
            <a:off x="960120" y="3840480"/>
            <a:ext cx="4572000" cy="64008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The multi-agent arm renders its answer as a bulleted, sectioned template.</a:t>
            </a:r>
            <a:endParaRPr lang="en-US" sz="1300" dirty="0"/>
          </a:p>
        </p:txBody>
      </p:sp>
      <p:sp>
        <p:nvSpPr>
          <p:cNvPr id="9" name="Shape 7"/>
          <p:cNvSpPr/>
          <p:nvPr/>
        </p:nvSpPr>
        <p:spPr>
          <a:xfrm>
            <a:off x="6309360" y="2011680"/>
            <a:ext cx="5212080" cy="2606040"/>
          </a:xfrm>
          <a:prstGeom prst="roundRect">
            <a:avLst>
              <a:gd name="adj" fmla="val 3509"/>
            </a:avLst>
          </a:prstGeom>
          <a:solidFill>
            <a:srgbClr val="F4F7FB"/>
          </a:solidFill>
          <a:ln w="12700">
            <a:solidFill>
              <a:srgbClr val="DDE3EC"/>
            </a:solidFill>
            <a:prstDash val="solid"/>
          </a:ln>
        </p:spPr>
      </p:sp>
      <p:sp>
        <p:nvSpPr>
          <p:cNvPr id="10" name="Text 8"/>
          <p:cNvSpPr txBox="1"/>
          <p:nvPr/>
        </p:nvSpPr>
        <p:spPr>
          <a:xfrm>
            <a:off x="6629400" y="2240280"/>
            <a:ext cx="457200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Prose, same retrieval</a:t>
            </a:r>
            <a:endParaRPr lang="en-US" sz="1500" dirty="0"/>
          </a:p>
        </p:txBody>
      </p:sp>
      <p:sp>
        <p:nvSpPr>
          <p:cNvPr id="11" name="Text 9"/>
          <p:cNvSpPr txBox="1"/>
          <p:nvPr/>
        </p:nvSpPr>
        <p:spPr>
          <a:xfrm>
            <a:off x="6629400" y="2651760"/>
            <a:ext cx="4572000" cy="777240"/>
          </a:xfrm>
          <a:prstGeom prst="rect">
            <a:avLst/>
          </a:prstGeom>
          <a:noFill/>
          <a:ln/>
        </p:spPr>
        <p:txBody>
          <a:bodyPr wrap="square" lIns="0" tIns="0" rIns="0" bIns="0" rtlCol="0" anchor="ctr"/>
          <a:lstStyle/>
          <a:p>
            <a:pPr indent="0" marL="0">
              <a:buNone/>
            </a:pPr>
            <a:r>
              <a:rPr lang="en-US" sz="4200" b="1" dirty="0">
                <a:solidFill>
                  <a:srgbClr val="1C7293"/>
                </a:solidFill>
                <a:latin typeface="Cambria" pitchFamily="34" charset="0"/>
                <a:ea typeface="Cambria" pitchFamily="34" charset="-122"/>
                <a:cs typeface="Cambria" pitchFamily="34" charset="-120"/>
              </a:rPr>
              <a:t>+0.002</a:t>
            </a:r>
            <a:endParaRPr lang="en-US" sz="4200" dirty="0"/>
          </a:p>
        </p:txBody>
      </p:sp>
      <p:sp>
        <p:nvSpPr>
          <p:cNvPr id="12" name="Text 10"/>
          <p:cNvSpPr txBox="1"/>
          <p:nvPr/>
        </p:nvSpPr>
        <p:spPr>
          <a:xfrm>
            <a:off x="6629400" y="3474720"/>
            <a:ext cx="457200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p = 0.787 · indistinguishable</a:t>
            </a:r>
            <a:endParaRPr lang="en-US" sz="1300" dirty="0"/>
          </a:p>
        </p:txBody>
      </p:sp>
      <p:sp>
        <p:nvSpPr>
          <p:cNvPr id="13" name="Text 11"/>
          <p:cNvSpPr txBox="1"/>
          <p:nvPr/>
        </p:nvSpPr>
        <p:spPr>
          <a:xfrm>
            <a:off x="6629400" y="3840480"/>
            <a:ext cx="4572000" cy="640080"/>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Identical documents, synthesized through the baseline’s own prompt.</a:t>
            </a:r>
            <a:endParaRPr lang="en-US" sz="1300" dirty="0"/>
          </a:p>
        </p:txBody>
      </p:sp>
      <p:sp>
        <p:nvSpPr>
          <p:cNvPr id="14" name="Shape 12"/>
          <p:cNvSpPr/>
          <p:nvPr/>
        </p:nvSpPr>
        <p:spPr>
          <a:xfrm>
            <a:off x="640080" y="4937760"/>
            <a:ext cx="10911535" cy="914400"/>
          </a:xfrm>
          <a:prstGeom prst="roundRect">
            <a:avLst>
              <a:gd name="adj" fmla="val 8000"/>
            </a:avLst>
          </a:prstGeom>
          <a:solidFill>
            <a:srgbClr val="1E2761"/>
          </a:solidFill>
          <a:ln w="12700">
            <a:solidFill>
              <a:srgbClr val="1E2761"/>
            </a:solidFill>
            <a:prstDash val="solid"/>
          </a:ln>
        </p:spPr>
      </p:sp>
      <p:sp>
        <p:nvSpPr>
          <p:cNvPr id="15" name="Text 13"/>
          <p:cNvSpPr txBox="1"/>
          <p:nvPr/>
        </p:nvSpPr>
        <p:spPr>
          <a:xfrm>
            <a:off x="960120" y="5138928"/>
            <a:ext cx="10271455"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Whatever the template costs, it is not grounding. </a:t>
            </a:r>
            <a:pPr indent="0" marL="0">
              <a:buNone/>
            </a:pPr>
            <a:r>
              <a:rPr lang="en-US" sz="1600" dirty="0">
                <a:solidFill>
                  <a:srgbClr val="CADCFC"/>
                </a:solidFill>
                <a:latin typeface="Calibri" pitchFamily="34" charset="0"/>
                <a:ea typeface="Calibri" pitchFamily="34" charset="-122"/>
                <a:cs typeface="Calibri" pitchFamily="34" charset="-120"/>
              </a:rPr>
              <a:t>Any future comparison that lets answer format vary between arms is measuring formatting.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Two cautions that travel with this run</a:t>
            </a:r>
            <a:endParaRPr lang="en-US" sz="3400" dirty="0"/>
          </a:p>
        </p:txBody>
      </p:sp>
      <p:sp>
        <p:nvSpPr>
          <p:cNvPr id="3" name="Text 1"/>
          <p:cNvSpPr txBox="1"/>
          <p:nvPr/>
        </p:nvSpPr>
        <p:spPr>
          <a:xfrm>
            <a:off x="640080" y="1234440"/>
            <a:ext cx="10911535" cy="41148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Stated up front, because both are easy to quote wrongly</a:t>
            </a:r>
            <a:endParaRPr lang="en-US" sz="1500" dirty="0"/>
          </a:p>
        </p:txBody>
      </p:sp>
      <p:sp>
        <p:nvSpPr>
          <p:cNvPr id="4" name="Shape 2"/>
          <p:cNvSpPr/>
          <p:nvPr/>
        </p:nvSpPr>
        <p:spPr>
          <a:xfrm>
            <a:off x="640080" y="2011680"/>
            <a:ext cx="777240" cy="777240"/>
          </a:xfrm>
          <a:prstGeom prst="ellipse">
            <a:avLst/>
          </a:prstGeom>
          <a:solidFill>
            <a:srgbClr val="CADCFC"/>
          </a:solidFill>
          <a:ln w="12700">
            <a:solidFill>
              <a:srgbClr val="CADCFC"/>
            </a:solidFill>
            <a:prstDash val="solid"/>
          </a:ln>
        </p:spPr>
      </p:sp>
      <p:sp>
        <p:nvSpPr>
          <p:cNvPr id="5" name="Text 3"/>
          <p:cNvSpPr txBox="1"/>
          <p:nvPr/>
        </p:nvSpPr>
        <p:spPr>
          <a:xfrm>
            <a:off x="640080" y="2185416"/>
            <a:ext cx="777240" cy="45720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01</a:t>
            </a:r>
            <a:endParaRPr lang="en-US" sz="2200" dirty="0"/>
          </a:p>
        </p:txBody>
      </p:sp>
      <p:sp>
        <p:nvSpPr>
          <p:cNvPr id="6" name="Text 4"/>
          <p:cNvSpPr txBox="1"/>
          <p:nvPr/>
        </p:nvSpPr>
        <p:spPr>
          <a:xfrm>
            <a:off x="1691640" y="2029968"/>
            <a:ext cx="978408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Quote the medians, never the means</a:t>
            </a:r>
            <a:endParaRPr lang="en-US" sz="2000" dirty="0"/>
          </a:p>
        </p:txBody>
      </p:sp>
      <p:sp>
        <p:nvSpPr>
          <p:cNvPr id="7" name="Text 5"/>
          <p:cNvSpPr txBox="1"/>
          <p:nvPr/>
        </p:nvSpPr>
        <p:spPr>
          <a:xfrm>
            <a:off x="1691640" y="2468880"/>
            <a:ext cx="9784080" cy="118872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Questions 164 and 165 recorded 1,000–5,200 s on every arm — the host stalled, not the systems. Medians: 20.3 s marag, 26.3 s marag_llm, 8.8 s baseline — 2.3× and 3.0×.</a:t>
            </a:r>
            <a:endParaRPr lang="en-US" sz="1500" dirty="0"/>
          </a:p>
        </p:txBody>
      </p:sp>
      <p:sp>
        <p:nvSpPr>
          <p:cNvPr id="8" name="Shape 6"/>
          <p:cNvSpPr/>
          <p:nvPr/>
        </p:nvSpPr>
        <p:spPr>
          <a:xfrm>
            <a:off x="640080" y="3840480"/>
            <a:ext cx="777240" cy="777240"/>
          </a:xfrm>
          <a:prstGeom prst="ellipse">
            <a:avLst/>
          </a:prstGeom>
          <a:solidFill>
            <a:srgbClr val="CADCFC"/>
          </a:solidFill>
          <a:ln w="12700">
            <a:solidFill>
              <a:srgbClr val="CADCFC"/>
            </a:solidFill>
            <a:prstDash val="solid"/>
          </a:ln>
        </p:spPr>
      </p:sp>
      <p:sp>
        <p:nvSpPr>
          <p:cNvPr id="9" name="Text 7"/>
          <p:cNvSpPr txBox="1"/>
          <p:nvPr/>
        </p:nvSpPr>
        <p:spPr>
          <a:xfrm>
            <a:off x="640080" y="4014216"/>
            <a:ext cx="777240" cy="45720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02</a:t>
            </a:r>
            <a:endParaRPr lang="en-US" sz="2200" dirty="0"/>
          </a:p>
        </p:txBody>
      </p:sp>
      <p:sp>
        <p:nvSpPr>
          <p:cNvPr id="10" name="Text 8"/>
          <p:cNvSpPr txBox="1"/>
          <p:nvPr/>
        </p:nvSpPr>
        <p:spPr>
          <a:xfrm>
            <a:off x="1691640" y="3858768"/>
            <a:ext cx="978408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This is not a frozen comparison</a:t>
            </a:r>
            <a:endParaRPr lang="en-US" sz="2000" dirty="0"/>
          </a:p>
        </p:txBody>
      </p:sp>
      <p:sp>
        <p:nvSpPr>
          <p:cNvPr id="11" name="Text 9"/>
          <p:cNvSpPr txBox="1"/>
          <p:nvPr/>
        </p:nvSpPr>
        <p:spPr>
          <a:xfrm>
            <a:off x="1691640" y="4297680"/>
            <a:ext cx="9784080" cy="118872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The run spans two calendar days, so early and late questions saw different live corpora. Pairing survives — the three arms run back-to-back per question, median 129 s — but the run is incomparable to any other run. For byte-identical documents, cite the frozen ladder replay run_1788422938_67177cd53aab.</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82296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Section 5 this week</a:t>
            </a:r>
            <a:endParaRPr lang="en-US" sz="3400" dirty="0"/>
          </a:p>
        </p:txBody>
      </p:sp>
      <p:sp>
        <p:nvSpPr>
          <p:cNvPr id="3" name="Text 1"/>
          <p:cNvSpPr txBox="1"/>
          <p:nvPr/>
        </p:nvSpPr>
        <p:spPr>
          <a:xfrm>
            <a:off x="640080" y="1234440"/>
            <a:ext cx="10911535" cy="411480"/>
          </a:xfrm>
          <a:prstGeom prst="rect">
            <a:avLst/>
          </a:prstGeom>
          <a:noFill/>
          <a:ln/>
        </p:spPr>
        <p:txBody>
          <a:bodyPr wrap="square" lIns="0" tIns="0" rIns="0" bIns="0" rtlCol="0" anchor="ctr"/>
          <a:lstStyle/>
          <a:p>
            <a:pPr indent="0" marL="0">
              <a:buNone/>
            </a:pPr>
            <a:r>
              <a:rPr lang="en-US" sz="1500" i="1" dirty="0">
                <a:solidFill>
                  <a:srgbClr val="5C6470"/>
                </a:solidFill>
                <a:latin typeface="Calibri" pitchFamily="34" charset="0"/>
                <a:ea typeface="Calibri" pitchFamily="34" charset="-122"/>
                <a:cs typeface="Calibri" pitchFamily="34" charset="-120"/>
              </a:rPr>
              <a:t>Code, documentation and deployment — state as of Thursday 3 September, before the Friday noon deadline</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911535" cy="914400"/>
        </p:xfrm>
        <a:graphic>
          <a:graphicData uri="http://schemas.openxmlformats.org/drawingml/2006/table">
            <a:tbl>
              <a:tblPr/>
              <a:tblGrid>
                <a:gridCol w="2606040"/>
                <a:gridCol w="2148840"/>
                <a:gridCol w="6153912"/>
              </a:tblGrid>
              <a:tr h="8686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Requirement</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State</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Evidence</a:t>
                      </a:r>
                      <a:endParaRPr lang="en-US" sz="14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E2761"/>
                    </a:solidFill>
                  </a:tcPr>
                </a:tc>
              </a:tr>
              <a:tr h="86868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Code + README to Git</a:t>
                      </a:r>
                      <a:endParaRPr lang="en-US" sz="13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b="1" dirty="0">
                          <a:solidFill>
                            <a:srgbClr val="1C7293"/>
                          </a:solidFill>
                          <a:latin typeface="Calibri" pitchFamily="34" charset="0"/>
                          <a:ea typeface="Calibri" pitchFamily="34" charset="-122"/>
                          <a:cs typeface="Calibri" pitchFamily="34" charset="-120"/>
                        </a:rPr>
                        <a:t>Merged to main</a:t>
                      </a:r>
                      <a:endParaRPr lang="en-US" sz="13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5C6470"/>
                          </a:solidFill>
                          <a:latin typeface="Calibri" pitchFamily="34" charset="0"/>
                          <a:ea typeface="Calibri" pitchFamily="34" charset="-122"/>
                          <a:cs typeface="Calibri" pitchFamily="34" charset="-120"/>
                        </a:rPr>
                        <a:t>PR #10 merged: the n=300 findings, the provenance entry, and the record-mode harness fix. README correction block, roadmap and test count brought current.</a:t>
                      </a:r>
                      <a:endParaRPr lang="en-US" sz="12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86868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Project document update</a:t>
                      </a:r>
                      <a:endParaRPr lang="en-US" sz="13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4F7FB"/>
                    </a:solidFill>
                  </a:tcPr>
                </a:tc>
                <a:tc>
                  <a:txBody>
                    <a:bodyPr/>
                    <a:lstStyle/>
                    <a:p>
                      <a:pPr indent="0" marL="0">
                        <a:buNone/>
                      </a:pPr>
                      <a:r>
                        <a:rPr lang="en-US" sz="1300" b="1" dirty="0">
                          <a:solidFill>
                            <a:srgbClr val="1C7293"/>
                          </a:solidFill>
                          <a:latin typeface="Calibri" pitchFamily="34" charset="0"/>
                          <a:ea typeface="Calibri" pitchFamily="34" charset="-122"/>
                          <a:cs typeface="Calibri" pitchFamily="34" charset="-120"/>
                        </a:rPr>
                        <a:t>specs/status.md §10</a:t>
                      </a:r>
                      <a:endParaRPr lang="en-US" sz="13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4F7FB"/>
                    </a:solidFill>
                  </a:tcPr>
                </a:tc>
                <a:tc>
                  <a:txBody>
                    <a:bodyPr/>
                    <a:lstStyle/>
                    <a:p>
                      <a:pPr indent="0" marL="0">
                        <a:buNone/>
                      </a:pPr>
                      <a:r>
                        <a:rPr lang="en-US" sz="1200" dirty="0">
                          <a:solidFill>
                            <a:srgbClr val="5C6470"/>
                          </a:solidFill>
                          <a:latin typeface="Calibri" pitchFamily="34" charset="0"/>
                          <a:ea typeface="Calibri" pitchFamily="34" charset="-122"/>
                          <a:cs typeface="Calibri" pitchFamily="34" charset="-120"/>
                        </a:rPr>
                        <a:t>Week 2 section appended: Phase 6 moved from not-started to done, phase table refreshed, open items re-prioritised. Revision history is the git log.</a:t>
                      </a:r>
                      <a:endParaRPr lang="en-US" sz="12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4F7FB"/>
                    </a:solidFill>
                  </a:tcPr>
                </a:tc>
              </a:tr>
              <a:tr h="86868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Deployment</a:t>
                      </a:r>
                      <a:endParaRPr lang="en-US" sz="13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300" b="1" dirty="0">
                          <a:solidFill>
                            <a:srgbClr val="1C7293"/>
                          </a:solidFill>
                          <a:latin typeface="Calibri" pitchFamily="34" charset="0"/>
                          <a:ea typeface="Calibri" pitchFamily="34" charset="-122"/>
                          <a:cs typeface="Calibri" pitchFamily="34" charset="-120"/>
                        </a:rPr>
                        <a:t>Live, re-verified today</a:t>
                      </a:r>
                      <a:endParaRPr lang="en-US" sz="13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200" dirty="0">
                          <a:solidFill>
                            <a:srgbClr val="5C6470"/>
                          </a:solidFill>
                          <a:latin typeface="Calibri" pitchFamily="34" charset="0"/>
                          <a:ea typeface="Calibri" pitchFamily="34" charset="-122"/>
                          <a:cs typeface="Calibri" pitchFamily="34" charset="-120"/>
                        </a:rPr>
                        <a:t>software-update-questions.streamlit.app — ran a question end to end; agents reported Grounded, linux · security, and the labelled rule-based fallback.</a:t>
                      </a:r>
                      <a:endParaRPr lang="en-US" sz="12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868680">
                <a:tc>
                  <a:txBody>
                    <a:bodyPr/>
                    <a:lstStyle/>
                    <a:p>
                      <a:pPr indent="0" marL="0">
                        <a:buNone/>
                      </a:pPr>
                      <a:r>
                        <a:rPr lang="en-US" sz="1300" b="1" dirty="0">
                          <a:solidFill>
                            <a:srgbClr val="1A1A1A"/>
                          </a:solidFill>
                          <a:latin typeface="Calibri" pitchFamily="34" charset="0"/>
                          <a:ea typeface="Calibri" pitchFamily="34" charset="-122"/>
                          <a:cs typeface="Calibri" pitchFamily="34" charset="-120"/>
                        </a:rPr>
                        <a:t>Test suite</a:t>
                      </a:r>
                      <a:endParaRPr lang="en-US" sz="13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4F7FB"/>
                    </a:solidFill>
                  </a:tcPr>
                </a:tc>
                <a:tc>
                  <a:txBody>
                    <a:bodyPr/>
                    <a:lstStyle/>
                    <a:p>
                      <a:pPr indent="0" marL="0">
                        <a:buNone/>
                      </a:pPr>
                      <a:r>
                        <a:rPr lang="en-US" sz="1300" b="1" dirty="0">
                          <a:solidFill>
                            <a:srgbClr val="1C7293"/>
                          </a:solidFill>
                          <a:latin typeface="Calibri" pitchFamily="34" charset="0"/>
                          <a:ea typeface="Calibri" pitchFamily="34" charset="-122"/>
                          <a:cs typeface="Calibri" pitchFamily="34" charset="-120"/>
                        </a:rPr>
                        <a:t>629 passing, offline</a:t>
                      </a:r>
                      <a:endParaRPr lang="en-US" sz="13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4F7FB"/>
                    </a:solidFill>
                  </a:tcPr>
                </a:tc>
                <a:tc>
                  <a:txBody>
                    <a:bodyPr/>
                    <a:lstStyle/>
                    <a:p>
                      <a:pPr indent="0" marL="0">
                        <a:buNone/>
                      </a:pPr>
                      <a:r>
                        <a:rPr lang="en-US" sz="1200" dirty="0">
                          <a:solidFill>
                            <a:srgbClr val="5C6470"/>
                          </a:solidFill>
                          <a:latin typeface="Calibri" pitchFamily="34" charset="0"/>
                          <a:ea typeface="Calibri" pitchFamily="34" charset="-122"/>
                          <a:cs typeface="Calibri" pitchFamily="34" charset="-120"/>
                        </a:rPr>
                        <a:t>Was 349 at the last status snapshot. No network required; the README’s stated count was stale and is now correct.</a:t>
                      </a:r>
                      <a:endParaRPr lang="en-US" sz="1200" dirty="0">
                        <a:latin typeface="Calibri" charset="0"/>
                        <a:ea typeface="Calibri" charset="0"/>
                        <a:cs typeface="Calibri" charset="0"/>
                      </a:endParaRPr>
                    </a:p>
                  </a:txBody>
                  <a:tcPr marL="91440" marR="91440" marT="45720" marB="4572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4F7FB"/>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82296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Open, in priority order</a:t>
            </a:r>
            <a:endParaRPr lang="en-US" sz="3400" dirty="0"/>
          </a:p>
        </p:txBody>
      </p:sp>
      <p:sp>
        <p:nvSpPr>
          <p:cNvPr id="3" name="Text 1"/>
          <p:cNvSpPr txBox="1"/>
          <p:nvPr/>
        </p:nvSpPr>
        <p:spPr>
          <a:xfrm>
            <a:off x="640080" y="1234440"/>
            <a:ext cx="10911535" cy="411480"/>
          </a:xfrm>
          <a:prstGeom prst="rect">
            <a:avLst/>
          </a:prstGeom>
          <a:noFill/>
          <a:ln/>
        </p:spPr>
        <p:txBody>
          <a:bodyPr wrap="square" lIns="0" tIns="0" rIns="0" bIns="0" rtlCol="0" anchor="ctr"/>
          <a:lstStyle/>
          <a:p>
            <a:pPr indent="0" marL="0">
              <a:buNone/>
            </a:pPr>
            <a:r>
              <a:rPr lang="en-US" sz="1500" i="1" dirty="0">
                <a:solidFill>
                  <a:srgbClr val="5C6470"/>
                </a:solidFill>
                <a:latin typeface="Calibri" pitchFamily="34" charset="0"/>
                <a:ea typeface="Calibri" pitchFamily="34" charset="-122"/>
                <a:cs typeface="Calibri" pitchFamily="34" charset="-120"/>
              </a:rPr>
              <a:t>What would change a claim in this deck, ranked by how much</a:t>
            </a:r>
            <a:endParaRPr lang="en-US" sz="1500" dirty="0"/>
          </a:p>
        </p:txBody>
      </p:sp>
      <p:sp>
        <p:nvSpPr>
          <p:cNvPr id="4" name="Shape 2"/>
          <p:cNvSpPr/>
          <p:nvPr/>
        </p:nvSpPr>
        <p:spPr>
          <a:xfrm>
            <a:off x="685800" y="2075688"/>
            <a:ext cx="256032" cy="256032"/>
          </a:xfrm>
          <a:prstGeom prst="ellipse">
            <a:avLst/>
          </a:prstGeom>
          <a:solidFill>
            <a:srgbClr val="C1443C"/>
          </a:solidFill>
          <a:ln w="12700">
            <a:solidFill>
              <a:srgbClr val="C1443C"/>
            </a:solidFill>
            <a:prstDash val="solid"/>
          </a:ln>
        </p:spPr>
      </p:sp>
      <p:sp>
        <p:nvSpPr>
          <p:cNvPr id="5" name="Text 3"/>
          <p:cNvSpPr txBox="1"/>
          <p:nvPr/>
        </p:nvSpPr>
        <p:spPr>
          <a:xfrm>
            <a:off x="1188720" y="1965960"/>
            <a:ext cx="10332720" cy="384048"/>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Independent judge — blocked since 31 August</a:t>
            </a:r>
            <a:endParaRPr lang="en-US" sz="1700" dirty="0"/>
          </a:p>
        </p:txBody>
      </p:sp>
      <p:sp>
        <p:nvSpPr>
          <p:cNvPr id="6" name="Text 4"/>
          <p:cNvSpPr txBox="1"/>
          <p:nvPr/>
        </p:nvSpPr>
        <p:spPr>
          <a:xfrm>
            <a:off x="1188720" y="2350008"/>
            <a:ext cx="10332720" cy="566928"/>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ollama:llama3.1 still judges a pipeline whose rewriter and one arm are llama3.1. Needs an OPENAI_API_KEY. This is the largest live threat to every number here.</a:t>
            </a:r>
            <a:endParaRPr lang="en-US" sz="1300" dirty="0"/>
          </a:p>
        </p:txBody>
      </p:sp>
      <p:sp>
        <p:nvSpPr>
          <p:cNvPr id="7" name="Shape 5"/>
          <p:cNvSpPr/>
          <p:nvPr/>
        </p:nvSpPr>
        <p:spPr>
          <a:xfrm>
            <a:off x="685800" y="3127248"/>
            <a:ext cx="256032" cy="256032"/>
          </a:xfrm>
          <a:prstGeom prst="ellipse">
            <a:avLst/>
          </a:prstGeom>
          <a:solidFill>
            <a:srgbClr val="1C7293"/>
          </a:solidFill>
          <a:ln w="12700">
            <a:solidFill>
              <a:srgbClr val="1C7293"/>
            </a:solidFill>
            <a:prstDash val="solid"/>
          </a:ln>
        </p:spPr>
      </p:sp>
      <p:sp>
        <p:nvSpPr>
          <p:cNvPr id="8" name="Text 6"/>
          <p:cNvSpPr txBox="1"/>
          <p:nvPr/>
        </p:nvSpPr>
        <p:spPr>
          <a:xfrm>
            <a:off x="1188720" y="3017520"/>
            <a:ext cx="10332720" cy="384048"/>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A frozen run at n = 300</a:t>
            </a:r>
            <a:endParaRPr lang="en-US" sz="1700" dirty="0"/>
          </a:p>
        </p:txBody>
      </p:sp>
      <p:sp>
        <p:nvSpPr>
          <p:cNvPr id="9" name="Text 7"/>
          <p:cNvSpPr txBox="1"/>
          <p:nvPr/>
        </p:nvSpPr>
        <p:spPr>
          <a:xfrm>
            <a:off x="1188720" y="3401568"/>
            <a:ext cx="10332720" cy="566928"/>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Replay against a single-writer snapshot directory would make the large-sample result citable on its own, not only as corroboration of the ladder.</a:t>
            </a:r>
            <a:endParaRPr lang="en-US" sz="1300" dirty="0"/>
          </a:p>
        </p:txBody>
      </p:sp>
      <p:sp>
        <p:nvSpPr>
          <p:cNvPr id="10" name="Shape 8"/>
          <p:cNvSpPr/>
          <p:nvPr/>
        </p:nvSpPr>
        <p:spPr>
          <a:xfrm>
            <a:off x="685800" y="4178808"/>
            <a:ext cx="256032" cy="256032"/>
          </a:xfrm>
          <a:prstGeom prst="ellipse">
            <a:avLst/>
          </a:prstGeom>
          <a:solidFill>
            <a:srgbClr val="1C7293"/>
          </a:solidFill>
          <a:ln w="12700">
            <a:solidFill>
              <a:srgbClr val="1C7293"/>
            </a:solidFill>
            <a:prstDash val="solid"/>
          </a:ln>
        </p:spPr>
      </p:sp>
      <p:sp>
        <p:nvSpPr>
          <p:cNvPr id="11" name="Text 9"/>
          <p:cNvSpPr txBox="1"/>
          <p:nvPr/>
        </p:nvSpPr>
        <p:spPr>
          <a:xfrm>
            <a:off x="1188720" y="4069080"/>
            <a:ext cx="10332720" cy="384048"/>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Artifact packaging (Phase 7)</a:t>
            </a:r>
            <a:endParaRPr lang="en-US" sz="1700" dirty="0"/>
          </a:p>
        </p:txBody>
      </p:sp>
      <p:sp>
        <p:nvSpPr>
          <p:cNvPr id="12" name="Text 10"/>
          <p:cNvSpPr txBox="1"/>
          <p:nvPr/>
        </p:nvSpPr>
        <p:spPr>
          <a:xfrm>
            <a:off x="1188720" y="4453128"/>
            <a:ext cx="10332720" cy="566928"/>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The corpus snapshots are the reproducibility asset and none are archived. The n=300 snapshot alone is 84 MB across 7,899 files; it needs a DOI.</a:t>
            </a:r>
            <a:endParaRPr lang="en-US" sz="1300" dirty="0"/>
          </a:p>
        </p:txBody>
      </p:sp>
      <p:sp>
        <p:nvSpPr>
          <p:cNvPr id="13" name="Shape 11"/>
          <p:cNvSpPr/>
          <p:nvPr/>
        </p:nvSpPr>
        <p:spPr>
          <a:xfrm>
            <a:off x="685800" y="5230368"/>
            <a:ext cx="256032" cy="256032"/>
          </a:xfrm>
          <a:prstGeom prst="ellipse">
            <a:avLst/>
          </a:prstGeom>
          <a:solidFill>
            <a:srgbClr val="5C6470"/>
          </a:solidFill>
          <a:ln w="12700">
            <a:solidFill>
              <a:srgbClr val="5C6470"/>
            </a:solidFill>
            <a:prstDash val="solid"/>
          </a:ln>
        </p:spPr>
      </p:sp>
      <p:sp>
        <p:nvSpPr>
          <p:cNvPr id="14" name="Text 12"/>
          <p:cNvSpPr txBox="1"/>
          <p:nvPr/>
        </p:nvSpPr>
        <p:spPr>
          <a:xfrm>
            <a:off x="1188720" y="5120640"/>
            <a:ext cx="10332720" cy="384048"/>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Week 3 focus deliverable</a:t>
            </a:r>
            <a:endParaRPr lang="en-US" sz="1700" dirty="0"/>
          </a:p>
        </p:txBody>
      </p:sp>
      <p:sp>
        <p:nvSpPr>
          <p:cNvPr id="15" name="Text 13"/>
          <p:cNvSpPr txBox="1"/>
          <p:nvPr/>
        </p:nvSpPr>
        <p:spPr>
          <a:xfrm>
            <a:off x="1188720" y="5504688"/>
            <a:ext cx="10332720" cy="566928"/>
          </a:xfrm>
          <a:prstGeom prst="rect">
            <a:avLst/>
          </a:prstGeom>
          <a:noFill/>
          <a:ln/>
        </p:spPr>
        <p:txBody>
          <a:bodyPr wrap="square" lIns="0" tIns="0" rIns="0" bIns="0" rtlCol="0" anchor="ctr"/>
          <a:lstStyle/>
          <a:p>
            <a:pPr indent="0" marL="0">
              <a:buNone/>
            </a:pPr>
            <a:r>
              <a:rPr lang="en-US" sz="1300" dirty="0">
                <a:solidFill>
                  <a:srgbClr val="5C6470"/>
                </a:solidFill>
                <a:latin typeface="Calibri" pitchFamily="34" charset="0"/>
                <a:ea typeface="Calibri" pitchFamily="34" charset="-122"/>
                <a:cs typeface="Calibri" pitchFamily="34" charset="-120"/>
              </a:rPr>
              <a:t>First working versions of the evaluation, benchmark, guardrail, XAI-reasoning and model-selection tools — minimal is acceptable, running is not optional.</a:t>
            </a:r>
            <a:endParaRPr lang="en-US" sz="1300" dirty="0"/>
          </a:p>
        </p:txBody>
      </p:sp>
      <p:sp>
        <p:nvSpPr>
          <p:cNvPr id="16" name="Text 14"/>
          <p:cNvSpPr txBox="1"/>
          <p:nvPr/>
        </p:nvSpPr>
        <p:spPr>
          <a:xfrm>
            <a:off x="640080" y="5989320"/>
            <a:ext cx="10911535" cy="365760"/>
          </a:xfrm>
          <a:prstGeom prst="rect">
            <a:avLst/>
          </a:prstGeom>
          <a:noFill/>
          <a:ln/>
        </p:spPr>
        <p:txBody>
          <a:bodyPr wrap="square" lIns="0" tIns="0" rIns="0" bIns="0" rtlCol="0" anchor="ctr"/>
          <a:lstStyle/>
          <a:p>
            <a:pPr indent="0" marL="0">
              <a:buNone/>
            </a:pPr>
            <a:r>
              <a:rPr lang="en-US" sz="1200" dirty="0">
                <a:solidFill>
                  <a:srgbClr val="5C6470"/>
                </a:solidFill>
                <a:latin typeface="Calibri" pitchFamily="34" charset="0"/>
                <a:ea typeface="Calibri" pitchFamily="34" charset="-122"/>
                <a:cs typeface="Calibri" pitchFamily="34" charset="-120"/>
              </a:rPr>
              <a:t>Live demo: software-update-questions.streamlit.app  ·  Findings: eval_harness/FINDINGS.md  ·  Provenance: results/PROVENANCE.md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2026-09-03T20:27:01Z</dcterms:created>
  <dcterms:modified xsi:type="dcterms:W3CDTF">2026-09-03T20:27:01Z</dcterms:modified>
</cp:coreProperties>
</file>