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marag nDCG@3</c:v>
                </c:pt>
              </c:strCache>
            </c:strRef>
          </c:tx>
          <c:spPr>
            <a:solidFill>
              <a:srgbClr val="9AA7B4"/>
            </a:solidFill>
            <a:effectLst/>
          </c:spPr>
          <c:invertIfNegative val="0"/>
          <c:dLbls>
            <c:numFmt formatCode="0.000" sourceLinked="0"/>
            <c:txPr>
              <a:bodyPr/>
              <a:lstStyle/>
              <a:p>
                <a:pPr>
                  <a:defRPr b="0" i="0" strike="noStrike" sz="1400" u="none">
                    <a:solidFill>
                      <a:srgbClr val="1A1A1A"/>
                    </a:solidFill>
                    <a:latin typeface="Calibri"/>
                  </a:defRPr>
                </a:pPr>
              </a:p>
            </c:txPr>
            <c:showLegendKey val="0"/>
            <c:showVal val="1"/>
            <c:showCatName val="0"/>
            <c:showSerName val="0"/>
            <c:showPercent val="0"/>
            <c:showBubbleSize val="0"/>
            <c:showLeaderLines val="0"/>
          </c:dLbls>
          <c:dPt>
            <c:idx val="0"/>
            <c:invertIfNegative val="0"/>
            <c:bubble3D val="0"/>
            <c:spPr>
              <a:solidFill>
                <a:srgbClr val="9AA7B4"/>
              </a:solidFill>
              <a:effectLst/>
            </c:spPr>
          </c:dPt>
          <c:dPt>
            <c:idx val="1"/>
            <c:invertIfNegative val="0"/>
            <c:bubble3D val="0"/>
            <c:spPr>
              <a:solidFill>
                <a:srgbClr val="9AA7B4"/>
              </a:solidFill>
              <a:effectLst/>
            </c:spPr>
          </c:dPt>
          <c:dPt>
            <c:idx val="2"/>
            <c:invertIfNegative val="0"/>
            <c:bubble3D val="0"/>
            <c:spPr>
              <a:solidFill>
                <a:srgbClr val="9AA7B4"/>
              </a:solidFill>
              <a:effectLst/>
            </c:spPr>
          </c:dPt>
          <c:dPt>
            <c:idx val="3"/>
            <c:invertIfNegative val="0"/>
            <c:bubble3D val="0"/>
            <c:spPr>
              <a:solidFill>
                <a:srgbClr val="1C7293"/>
              </a:solidFill>
              <a:effectLst/>
            </c:spPr>
          </c:dPt>
          <c:cat>
            <c:multiLvlStrRef>
              <c:f>Sheet1!$A$2:$A$5</c:f>
              <c:multiLvlStrCache>
                <c:ptCount val="4"/>
                <c:lvl>
                  <c:pt idx="0">
                    <c:v>substring boost
single phrasing</c:v>
                  </c:pt>
                  <c:pt idx="1">
                    <c:v>bm25
single phrasing</c:v>
                  </c:pt>
                  <c:pt idx="2">
                    <c:v>embed
single phrasing</c:v>
                  </c:pt>
                  <c:pt idx="3">
                    <c:v>embed + union
fetch</c:v>
                  </c:pt>
                </c:lvl>
              </c:multiLvlStrCache>
            </c:multiLvlStrRef>
          </c:cat>
          <c:val>
            <c:numRef>
              <c:f>Sheet1!$B$2:$B$5</c:f>
              <c:numCache>
                <c:formatCode>General</c:formatCode>
                <c:ptCount val="4"/>
                <c:pt idx="0">
                  <c:v>0.145</c:v>
                </c:pt>
                <c:pt idx="1">
                  <c:v>0.212</c:v>
                </c:pt>
                <c:pt idx="2">
                  <c:v>0.188</c:v>
                </c:pt>
                <c:pt idx="3">
                  <c:v>0.765</c:v>
                </c:pt>
              </c:numCache>
            </c:numRef>
          </c:val>
        </c:ser>
        <c:dLbls>
          <c:numFmt formatCode="0.000" sourceLinked="0"/>
          <c:txPr>
            <a:bodyPr/>
            <a:lstStyle/>
            <a:p>
              <a:pPr>
                <a:defRPr b="0" i="0" strike="noStrike" sz="1400" u="none">
                  <a:solidFill>
                    <a:srgbClr val="1A1A1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12700"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4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761"/>
                </a:solidFill>
                <a:latin typeface="Calibri"/>
              </a:defRPr>
            </a:pPr>
            <a:r>
              <a:rPr sz="1400" b="0" i="0" u="none" strike="noStrike">
                <a:solidFill>
                  <a:srgbClr val="1E2761"/>
                </a:solidFill>
                <a:latin typeface="Calibri"/>
              </a:rPr>
              <a:t>Paired difference in recall@k</a:t>
            </a:r>
          </a:p>
        </c:rich>
      </c:tx>
      <c:layout/>
      <c:overlay val="0"/>
    </c:title>
    <c:autoTitleDeleted val="0"/>
    <c:plotArea>
      <c:layout/>
      <c:barChart>
        <c:barDir val="col"/>
        <c:grouping val="clustered"/>
        <c:varyColors val="0"/>
        <c:ser>
          <c:idx val="0"/>
          <c:order val="0"/>
          <c:tx>
            <c:strRef>
              <c:f>Sheet1!$B$1</c:f>
              <c:strCache>
                <c:ptCount val="1"/>
                <c:pt idx="0">
                  <c:v>marag − single_agent, recall@k</c:v>
                </c:pt>
              </c:strCache>
            </c:strRef>
          </c:tx>
          <c:spPr>
            <a:solidFill>
              <a:srgbClr val="C1443C"/>
            </a:solidFill>
            <a:effectLst/>
          </c:spPr>
          <c:invertIfNegative val="0"/>
          <c:dLbls>
            <c:numFmt formatCode="0.000" sourceLinked="0"/>
            <c:txPr>
              <a:bodyPr/>
              <a:lstStyle/>
              <a:p>
                <a:pPr>
                  <a:defRPr b="0" i="0" strike="noStrike" sz="1400" u="none">
                    <a:solidFill>
                      <a:srgbClr val="1A1A1A"/>
                    </a:solidFill>
                    <a:latin typeface="Calibri"/>
                  </a:defRPr>
                </a:pPr>
              </a:p>
            </c:txPr>
            <c:showLegendKey val="0"/>
            <c:showVal val="1"/>
            <c:showCatName val="0"/>
            <c:showSerName val="0"/>
            <c:showPercent val="0"/>
            <c:showBubbleSize val="0"/>
            <c:showLeaderLines val="0"/>
          </c:dLbls>
          <c:dPt>
            <c:idx val="0"/>
            <c:invertIfNegative val="0"/>
            <c:bubble3D val="0"/>
            <c:spPr>
              <a:solidFill>
                <a:srgbClr val="C1443C"/>
              </a:solidFill>
              <a:effectLst/>
            </c:spPr>
          </c:dPt>
          <c:dPt>
            <c:idx val="1"/>
            <c:invertIfNegative val="0"/>
            <c:bubble3D val="0"/>
            <c:spPr>
              <a:solidFill>
                <a:srgbClr val="6B7F3E"/>
              </a:solidFill>
              <a:effectLst/>
            </c:spPr>
          </c:dPt>
          <c:cat>
            <c:multiLvlStrRef>
              <c:f>Sheet1!$A$2:$A$3</c:f>
              <c:multiLvlStrCache>
                <c:ptCount val="2"/>
                <c:lvl>
                  <c:pt idx="0">
                    <c:v>k = 10</c:v>
                  </c:pt>
                  <c:pt idx="1">
                    <c:v>k = 20</c:v>
                  </c:pt>
                </c:lvl>
              </c:multiLvlStrCache>
            </c:multiLvlStrRef>
          </c:cat>
          <c:val>
            <c:numRef>
              <c:f>Sheet1!$B$2:$B$3</c:f>
              <c:numCache>
                <c:formatCode>General</c:formatCode>
                <c:ptCount val="2"/>
                <c:pt idx="0">
                  <c:v>-0.088</c:v>
                </c:pt>
                <c:pt idx="1">
                  <c:v>0.075</c:v>
                </c:pt>
              </c:numCache>
            </c:numRef>
          </c:val>
        </c:ser>
        <c:dLbls>
          <c:numFmt formatCode="0.000" sourceLinked="0"/>
          <c:txPr>
            <a:bodyPr/>
            <a:lstStyle/>
            <a:p>
              <a:pPr>
                <a:defRPr b="0" i="0" strike="noStrike" sz="1400" u="none">
                  <a:solidFill>
                    <a:srgbClr val="1A1A1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ax val="0.12"/>
          <c:min val="-0.12"/>
        </c:scaling>
        <c:delete val="0"/>
        <c:axPos val="l"/>
        <c:majorGridlines>
          <c:spPr>
            <a:ln w="12700"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4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project review: the system, the benchmarks, the harness, the models, every result to date, how each was obtained, and the plan for the remaining weeks. The headline is that the project is now a negative result plus its remedy, and that finding is better evidenced than the original positive claim ever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the whole project. Slides 4 through 12 are the evidence for each of these five steps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Self-improvement memory sits behind the rewriter: expansion terms that lead to successful retrievals accumulate score, failures decrement. Top learned terms after 50 queries: vulnerability +2.20, patch +1.58, advisory +1.23. No human feedback, no 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 matches q against product names, not free text — 'Linux' returns 606 releases, 'critical Linux updates' returns 0. That single fact drives the union fetch, the vendor extraction, and the grounding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harness is the actual research contribution as much as the pipeline is. Week 6 and Week 7 of the syllabus are evaluation tooling and benchmark tooling; both are substantially built already and will be documented and packaged rather than started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judge-independence threat is the single most important open item: llama3.1 currently judges a pipeline whose rewriter and one arm are also llama3.1. It has been blocked on an OpenAI key since 31 August and is documented as a blocker under Section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F3 to F4: fixing ranking three different ways moved MRR but not nDCG@3. That is what proved the missing documents were not being mis-ranked — they were not in the pool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single most useful one for a reader of the paper: it shows that the intuitive fix (better reranking) is the one that does not work, and the cheap fix (search both phrasings) is the one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tie column aloud: 250 to 290 of 300 questions score identically on every retrieval metric. This is the run that removes 'underpowered' as an objection.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run to cite for anything that needs byte-identical documents across arms. Grounding is the part of the architecture that pays; coordination, measured on its own, does not. That is a much more useful claim than the original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config was k=4. We suspected it was hiding an advantage. It was hiding a genuine ranking deficit at small windows that a large enough window eventually outruns on raw fetch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the demo's most convincing 30 seconds: show the question as asked, the question as grounded, the phrasings actually fetched, and which results fall inside the resolved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item on the paper: the older Section 4 subsections still read as conference-version prose against the rewritten sections, and nobody has read the typeset PDF front to back. Also unresolved — whether the workshop proceedings status satisfies TOSEM's journal-first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able to produce this table on demand is itself a deliverable. Section 8 of the syllabus requires that results be real and reproducible from the repository; this is how that requirement is met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self-reflective arm is the cheapest answer to the reviewer objection about no head-to-head baseline. Finishing that run is roughly 85 minutes of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OpenAI key decision in this meeting. Also flag that Weeks 6 and 7 are largely already built, which is why the interim report in Week 8 is realistic.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822960" y="1691640"/>
            <a:ext cx="10545775" cy="365760"/>
          </a:xfrm>
          <a:prstGeom prst="rect">
            <a:avLst/>
          </a:prstGeom>
          <a:noFill/>
          <a:ln/>
        </p:spPr>
        <p:txBody>
          <a:bodyPr wrap="square" lIns="0" tIns="0" rIns="0" bIns="0" rtlCol="0" anchor="ctr"/>
          <a:lstStyle/>
          <a:p>
            <a:pPr indent="0" marL="0">
              <a:buNone/>
            </a:pPr>
            <a:r>
              <a:rPr lang="en-US" sz="1500" spc="200" kern="0" dirty="0">
                <a:solidFill>
                  <a:srgbClr val="CADCFC"/>
                </a:solidFill>
                <a:latin typeface="Calibri" pitchFamily="34" charset="0"/>
                <a:ea typeface="Calibri" pitchFamily="34" charset="-122"/>
                <a:cs typeface="Calibri" pitchFamily="34" charset="-120"/>
              </a:rPr>
              <a:t>COMP 291 · Implementation Review · 3 September 2026</a:t>
            </a:r>
            <a:endParaRPr lang="en-US" sz="1500" dirty="0"/>
          </a:p>
        </p:txBody>
      </p:sp>
      <p:sp>
        <p:nvSpPr>
          <p:cNvPr id="3" name="Text 1"/>
          <p:cNvSpPr txBox="1"/>
          <p:nvPr/>
        </p:nvSpPr>
        <p:spPr>
          <a:xfrm>
            <a:off x="822960" y="2148840"/>
            <a:ext cx="10545775" cy="173736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What we built, what we</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measured, and what it means</a:t>
            </a:r>
            <a:endParaRPr lang="en-US" sz="4200" dirty="0"/>
          </a:p>
        </p:txBody>
      </p:sp>
      <p:sp>
        <p:nvSpPr>
          <p:cNvPr id="4" name="Text 2"/>
          <p:cNvSpPr txBox="1"/>
          <p:nvPr/>
        </p:nvSpPr>
        <p:spPr>
          <a:xfrm>
            <a:off x="822960" y="4023360"/>
            <a:ext cx="10545775" cy="3657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An Adaptive Multi-Agent RAG Architecture for Software Ecosystem Update Monitoring</a:t>
            </a:r>
            <a:endParaRPr lang="en-US" sz="1600" dirty="0"/>
          </a:p>
        </p:txBody>
      </p:sp>
      <p:sp>
        <p:nvSpPr>
          <p:cNvPr id="5" name="Text 3"/>
          <p:cNvSpPr txBox="1"/>
          <p:nvPr/>
        </p:nvSpPr>
        <p:spPr>
          <a:xfrm>
            <a:off x="822960" y="5029200"/>
            <a:ext cx="10545775" cy="82296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Shradha Devendra Pujari</a:t>
            </a: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Advisor: Dr. Solomon Berhe · University of the Pacific · Fall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arc of the work in one slide</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 claim below is measured, and every number maps to a run id in results/PROVENANCE.md</a:t>
            </a:r>
            <a:endParaRPr lang="en-US" sz="1400" dirty="0"/>
          </a:p>
        </p:txBody>
      </p:sp>
      <p:sp>
        <p:nvSpPr>
          <p:cNvPr id="4" name="Shape 2"/>
          <p:cNvSpPr/>
          <p:nvPr/>
        </p:nvSpPr>
        <p:spPr>
          <a:xfrm>
            <a:off x="685800" y="1837944"/>
            <a:ext cx="457200" cy="457200"/>
          </a:xfrm>
          <a:prstGeom prst="ellipse">
            <a:avLst/>
          </a:prstGeom>
          <a:solidFill>
            <a:srgbClr val="C1443C"/>
          </a:solidFill>
          <a:ln w="12700">
            <a:solidFill>
              <a:srgbClr val="C1443C"/>
            </a:solidFill>
            <a:prstDash val="solid"/>
          </a:ln>
        </p:spPr>
      </p:sp>
      <p:sp>
        <p:nvSpPr>
          <p:cNvPr id="5" name="Text 3"/>
          <p:cNvSpPr txBox="1"/>
          <p:nvPr/>
        </p:nvSpPr>
        <p:spPr>
          <a:xfrm>
            <a:off x="685800" y="1920240"/>
            <a:ext cx="457200" cy="29260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783080"/>
            <a:ext cx="10241280" cy="329184"/>
          </a:xfrm>
          <a:prstGeom prst="rect">
            <a:avLst/>
          </a:prstGeom>
          <a:noFill/>
          <a:ln/>
        </p:spPr>
        <p:txBody>
          <a:bodyPr wrap="square" lIns="0" tIns="0" rIns="0" bIns="0" rtlCol="0" anchor="ctr"/>
          <a:lstStyle/>
          <a:p>
            <a:pPr indent="0" marL="0">
              <a:buNone/>
            </a:pPr>
            <a:r>
              <a:rPr lang="en-US" sz="1600" b="1" dirty="0">
                <a:solidFill>
                  <a:srgbClr val="1A1A1A"/>
                </a:solidFill>
                <a:latin typeface="Calibri" pitchFamily="34" charset="0"/>
                <a:ea typeface="Calibri" pitchFamily="34" charset="-122"/>
                <a:cs typeface="Calibri" pitchFamily="34" charset="-120"/>
              </a:rPr>
              <a:t>The published claim did not survive re-measurement</a:t>
            </a:r>
            <a:endParaRPr lang="en-US" sz="1600" dirty="0"/>
          </a:p>
        </p:txBody>
      </p:sp>
      <p:sp>
        <p:nvSpPr>
          <p:cNvPr id="7" name="Text 5"/>
          <p:cNvSpPr txBox="1"/>
          <p:nvPr/>
        </p:nvSpPr>
        <p:spPr>
          <a:xfrm>
            <a:off x="1371600" y="2112264"/>
            <a:ext cx="10241280" cy="475488"/>
          </a:xfrm>
          <a:prstGeom prst="rect">
            <a:avLst/>
          </a:prstGeom>
          <a:noFill/>
          <a:ln/>
        </p:spPr>
        <p:txBody>
          <a:bodyPr wrap="square" lIns="0" tIns="0" rIns="0" bIns="0" rtlCol="0" anchor="ctr"/>
          <a:lstStyle/>
          <a:p>
            <a:pPr indent="0" marL="0">
              <a:buNone/>
            </a:pPr>
            <a:r>
              <a:rPr lang="en-US" sz="1250" dirty="0">
                <a:solidFill>
                  <a:srgbClr val="5C6470"/>
                </a:solidFill>
                <a:latin typeface="Calibri" pitchFamily="34" charset="0"/>
                <a:ea typeface="Calibri" pitchFamily="34" charset="-122"/>
                <a:cs typeface="Calibri" pitchFamily="34" charset="-120"/>
              </a:rPr>
              <a:t>+17.2% retrieval gain (n=50) was scored on a bespoke keyword-overlap metric. Under nDCG / Recall / MRR with judged relevance, the multi-agent system lost — badly.</a:t>
            </a:r>
            <a:endParaRPr lang="en-US" sz="1250" dirty="0"/>
          </a:p>
        </p:txBody>
      </p:sp>
      <p:sp>
        <p:nvSpPr>
          <p:cNvPr id="8" name="Shape 6"/>
          <p:cNvSpPr/>
          <p:nvPr/>
        </p:nvSpPr>
        <p:spPr>
          <a:xfrm>
            <a:off x="685800" y="2706624"/>
            <a:ext cx="457200" cy="457200"/>
          </a:xfrm>
          <a:prstGeom prst="ellipse">
            <a:avLst/>
          </a:prstGeom>
          <a:solidFill>
            <a:srgbClr val="1C7293"/>
          </a:solidFill>
          <a:ln w="12700">
            <a:solidFill>
              <a:srgbClr val="1C7293"/>
            </a:solidFill>
            <a:prstDash val="solid"/>
          </a:ln>
        </p:spPr>
      </p:sp>
      <p:sp>
        <p:nvSpPr>
          <p:cNvPr id="9" name="Text 7"/>
          <p:cNvSpPr txBox="1"/>
          <p:nvPr/>
        </p:nvSpPr>
        <p:spPr>
          <a:xfrm>
            <a:off x="685800" y="2788920"/>
            <a:ext cx="457200" cy="29260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651760"/>
            <a:ext cx="10241280" cy="329184"/>
          </a:xfrm>
          <a:prstGeom prst="rect">
            <a:avLst/>
          </a:prstGeom>
          <a:noFill/>
          <a:ln/>
        </p:spPr>
        <p:txBody>
          <a:bodyPr wrap="square" lIns="0" tIns="0" rIns="0" bIns="0" rtlCol="0" anchor="ctr"/>
          <a:lstStyle/>
          <a:p>
            <a:pPr indent="0" marL="0">
              <a:buNone/>
            </a:pPr>
            <a:r>
              <a:rPr lang="en-US" sz="1600" b="1" dirty="0">
                <a:solidFill>
                  <a:srgbClr val="1A1A1A"/>
                </a:solidFill>
                <a:latin typeface="Calibri" pitchFamily="34" charset="0"/>
                <a:ea typeface="Calibri" pitchFamily="34" charset="-122"/>
                <a:cs typeface="Calibri" pitchFamily="34" charset="-120"/>
              </a:rPr>
              <a:t>The cause was a real defect, localized to fetch time</a:t>
            </a:r>
            <a:endParaRPr lang="en-US" sz="1600" dirty="0"/>
          </a:p>
        </p:txBody>
      </p:sp>
      <p:sp>
        <p:nvSpPr>
          <p:cNvPr id="11" name="Text 9"/>
          <p:cNvSpPr txBox="1"/>
          <p:nvPr/>
        </p:nvSpPr>
        <p:spPr>
          <a:xfrm>
            <a:off x="1371600" y="2980944"/>
            <a:ext cx="10241280" cy="475488"/>
          </a:xfrm>
          <a:prstGeom prst="rect">
            <a:avLst/>
          </a:prstGeom>
          <a:noFill/>
          <a:ln/>
        </p:spPr>
        <p:txBody>
          <a:bodyPr wrap="square" lIns="0" tIns="0" rIns="0" bIns="0" rtlCol="0" anchor="ctr"/>
          <a:lstStyle/>
          <a:p>
            <a:pPr indent="0" marL="0">
              <a:buNone/>
            </a:pPr>
            <a:r>
              <a:rPr lang="en-US" sz="1250" dirty="0">
                <a:solidFill>
                  <a:srgbClr val="5C6470"/>
                </a:solidFill>
                <a:latin typeface="Calibri" pitchFamily="34" charset="0"/>
                <a:ea typeface="Calibri" pitchFamily="34" charset="-122"/>
                <a:cs typeface="Calibri" pitchFamily="34" charset="-120"/>
              </a:rPr>
              <a:t>The Query Rewriter's output replaced the user's wording at every endpoint. 22 of 23 relevant documents the baseline found were never fetched at all.</a:t>
            </a:r>
            <a:endParaRPr lang="en-US" sz="1250" dirty="0"/>
          </a:p>
        </p:txBody>
      </p:sp>
      <p:sp>
        <p:nvSpPr>
          <p:cNvPr id="12" name="Shape 10"/>
          <p:cNvSpPr/>
          <p:nvPr/>
        </p:nvSpPr>
        <p:spPr>
          <a:xfrm>
            <a:off x="685800" y="3575304"/>
            <a:ext cx="457200" cy="457200"/>
          </a:xfrm>
          <a:prstGeom prst="ellipse">
            <a:avLst/>
          </a:prstGeom>
          <a:solidFill>
            <a:srgbClr val="1C7293"/>
          </a:solidFill>
          <a:ln w="12700">
            <a:solidFill>
              <a:srgbClr val="1C7293"/>
            </a:solidFill>
            <a:prstDash val="solid"/>
          </a:ln>
        </p:spPr>
      </p:sp>
      <p:sp>
        <p:nvSpPr>
          <p:cNvPr id="13" name="Text 11"/>
          <p:cNvSpPr txBox="1"/>
          <p:nvPr/>
        </p:nvSpPr>
        <p:spPr>
          <a:xfrm>
            <a:off x="685800" y="3657600"/>
            <a:ext cx="457200" cy="29260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520440"/>
            <a:ext cx="10241280" cy="329184"/>
          </a:xfrm>
          <a:prstGeom prst="rect">
            <a:avLst/>
          </a:prstGeom>
          <a:noFill/>
          <a:ln/>
        </p:spPr>
        <p:txBody>
          <a:bodyPr wrap="square" lIns="0" tIns="0" rIns="0" bIns="0" rtlCol="0" anchor="ctr"/>
          <a:lstStyle/>
          <a:p>
            <a:pPr indent="0" marL="0">
              <a:buNone/>
            </a:pPr>
            <a:r>
              <a:rPr lang="en-US" sz="1600" b="1" dirty="0">
                <a:solidFill>
                  <a:srgbClr val="1A1A1A"/>
                </a:solidFill>
                <a:latin typeface="Calibri" pitchFamily="34" charset="0"/>
                <a:ea typeface="Calibri" pitchFamily="34" charset="-122"/>
                <a:cs typeface="Calibri" pitchFamily="34" charset="-120"/>
              </a:rPr>
              <a:t>Two fixes, both regression-tested</a:t>
            </a:r>
            <a:endParaRPr lang="en-US" sz="1600" dirty="0"/>
          </a:p>
        </p:txBody>
      </p:sp>
      <p:sp>
        <p:nvSpPr>
          <p:cNvPr id="15" name="Text 13"/>
          <p:cNvSpPr txBox="1"/>
          <p:nvPr/>
        </p:nvSpPr>
        <p:spPr>
          <a:xfrm>
            <a:off x="1371600" y="3849624"/>
            <a:ext cx="10241280" cy="475488"/>
          </a:xfrm>
          <a:prstGeom prst="rect">
            <a:avLst/>
          </a:prstGeom>
          <a:noFill/>
          <a:ln/>
        </p:spPr>
        <p:txBody>
          <a:bodyPr wrap="square" lIns="0" tIns="0" rIns="0" bIns="0" rtlCol="0" anchor="ctr"/>
          <a:lstStyle/>
          <a:p>
            <a:pPr indent="0" marL="0">
              <a:buNone/>
            </a:pPr>
            <a:r>
              <a:rPr lang="en-US" sz="1250" dirty="0">
                <a:solidFill>
                  <a:srgbClr val="5C6470"/>
                </a:solidFill>
                <a:latin typeface="Calibri" pitchFamily="34" charset="0"/>
                <a:ea typeface="Calibri" pitchFamily="34" charset="-122"/>
                <a:cs typeface="Calibri" pitchFamily="34" charset="-120"/>
              </a:rPr>
              <a:t>Union fetch (both phrasings searched, pools unioned) and reranking against the original question. nDCG@3 0.188 → 0.765 in one step.</a:t>
            </a:r>
            <a:endParaRPr lang="en-US" sz="1250" dirty="0"/>
          </a:p>
        </p:txBody>
      </p:sp>
      <p:sp>
        <p:nvSpPr>
          <p:cNvPr id="16" name="Shape 14"/>
          <p:cNvSpPr/>
          <p:nvPr/>
        </p:nvSpPr>
        <p:spPr>
          <a:xfrm>
            <a:off x="685800" y="4443984"/>
            <a:ext cx="457200" cy="457200"/>
          </a:xfrm>
          <a:prstGeom prst="ellipse">
            <a:avLst/>
          </a:prstGeom>
          <a:solidFill>
            <a:srgbClr val="1E2761"/>
          </a:solidFill>
          <a:ln w="12700">
            <a:solidFill>
              <a:srgbClr val="1E2761"/>
            </a:solidFill>
            <a:prstDash val="solid"/>
          </a:ln>
        </p:spPr>
      </p:sp>
      <p:sp>
        <p:nvSpPr>
          <p:cNvPr id="17" name="Text 15"/>
          <p:cNvSpPr txBox="1"/>
          <p:nvPr/>
        </p:nvSpPr>
        <p:spPr>
          <a:xfrm>
            <a:off x="685800" y="4526280"/>
            <a:ext cx="457200" cy="29260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89120"/>
            <a:ext cx="10241280" cy="329184"/>
          </a:xfrm>
          <a:prstGeom prst="rect">
            <a:avLst/>
          </a:prstGeom>
          <a:noFill/>
          <a:ln/>
        </p:spPr>
        <p:txBody>
          <a:bodyPr wrap="square" lIns="0" tIns="0" rIns="0" bIns="0" rtlCol="0" anchor="ctr"/>
          <a:lstStyle/>
          <a:p>
            <a:pPr indent="0" marL="0">
              <a:buNone/>
            </a:pPr>
            <a:r>
              <a:rPr lang="en-US" sz="1600" b="1" dirty="0">
                <a:solidFill>
                  <a:srgbClr val="1A1A1A"/>
                </a:solidFill>
                <a:latin typeface="Calibri" pitchFamily="34" charset="0"/>
                <a:ea typeface="Calibri" pitchFamily="34" charset="-122"/>
                <a:cs typeface="Calibri" pitchFamily="34" charset="-120"/>
              </a:rPr>
              <a:t>The repaired system reaches parity, not superiority</a:t>
            </a:r>
            <a:endParaRPr lang="en-US" sz="1600" dirty="0"/>
          </a:p>
        </p:txBody>
      </p:sp>
      <p:sp>
        <p:nvSpPr>
          <p:cNvPr id="19" name="Text 17"/>
          <p:cNvSpPr txBox="1"/>
          <p:nvPr/>
        </p:nvSpPr>
        <p:spPr>
          <a:xfrm>
            <a:off x="1371600" y="4718304"/>
            <a:ext cx="10241280" cy="475488"/>
          </a:xfrm>
          <a:prstGeom prst="rect">
            <a:avLst/>
          </a:prstGeom>
          <a:noFill/>
          <a:ln/>
        </p:spPr>
        <p:txBody>
          <a:bodyPr wrap="square" lIns="0" tIns="0" rIns="0" bIns="0" rtlCol="0" anchor="ctr"/>
          <a:lstStyle/>
          <a:p>
            <a:pPr indent="0" marL="0">
              <a:buNone/>
            </a:pPr>
            <a:r>
              <a:rPr lang="en-US" sz="1250" dirty="0">
                <a:solidFill>
                  <a:srgbClr val="5C6470"/>
                </a:solidFill>
                <a:latin typeface="Calibri" pitchFamily="34" charset="0"/>
                <a:ea typeface="Calibri" pitchFamily="34" charset="-122"/>
                <a:cs typeface="Calibri" pitchFamily="34" charset="-120"/>
              </a:rPr>
              <a:t>Confirmed at n=10, n=100 and now n=300: every retrieval metric is null. Decomposition per se is not what produced the original number.</a:t>
            </a:r>
            <a:endParaRPr lang="en-US" sz="1250" dirty="0"/>
          </a:p>
        </p:txBody>
      </p:sp>
      <p:sp>
        <p:nvSpPr>
          <p:cNvPr id="20" name="Shape 18"/>
          <p:cNvSpPr/>
          <p:nvPr/>
        </p:nvSpPr>
        <p:spPr>
          <a:xfrm>
            <a:off x="685800" y="5312664"/>
            <a:ext cx="457200" cy="457200"/>
          </a:xfrm>
          <a:prstGeom prst="ellipse">
            <a:avLst/>
          </a:prstGeom>
          <a:solidFill>
            <a:srgbClr val="6B7F3E"/>
          </a:solidFill>
          <a:ln w="12700">
            <a:solidFill>
              <a:srgbClr val="6B7F3E"/>
            </a:solidFill>
            <a:prstDash val="solid"/>
          </a:ln>
        </p:spPr>
      </p:sp>
      <p:sp>
        <p:nvSpPr>
          <p:cNvPr id="21" name="Text 19"/>
          <p:cNvSpPr txBox="1"/>
          <p:nvPr/>
        </p:nvSpPr>
        <p:spPr>
          <a:xfrm>
            <a:off x="685800" y="5394960"/>
            <a:ext cx="457200" cy="29260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5</a:t>
            </a:r>
            <a:endParaRPr lang="en-US" sz="1700" dirty="0"/>
          </a:p>
        </p:txBody>
      </p:sp>
      <p:sp>
        <p:nvSpPr>
          <p:cNvPr id="22" name="Text 20"/>
          <p:cNvSpPr txBox="1"/>
          <p:nvPr/>
        </p:nvSpPr>
        <p:spPr>
          <a:xfrm>
            <a:off x="1371600" y="5257800"/>
            <a:ext cx="10241280" cy="329184"/>
          </a:xfrm>
          <a:prstGeom prst="rect">
            <a:avLst/>
          </a:prstGeom>
          <a:noFill/>
          <a:ln/>
        </p:spPr>
        <p:txBody>
          <a:bodyPr wrap="square" lIns="0" tIns="0" rIns="0" bIns="0" rtlCol="0" anchor="ctr"/>
          <a:lstStyle/>
          <a:p>
            <a:pPr indent="0" marL="0">
              <a:buNone/>
            </a:pPr>
            <a:r>
              <a:rPr lang="en-US" sz="1600" b="1" dirty="0">
                <a:solidFill>
                  <a:srgbClr val="1A1A1A"/>
                </a:solidFill>
                <a:latin typeface="Calibri" pitchFamily="34" charset="0"/>
                <a:ea typeface="Calibri" pitchFamily="34" charset="-122"/>
                <a:cs typeface="Calibri" pitchFamily="34" charset="-120"/>
              </a:rPr>
              <a:t>What does help is grounding, and we can now separate the two</a:t>
            </a:r>
            <a:endParaRPr lang="en-US" sz="1600" dirty="0"/>
          </a:p>
        </p:txBody>
      </p:sp>
      <p:sp>
        <p:nvSpPr>
          <p:cNvPr id="23" name="Text 21"/>
          <p:cNvSpPr txBox="1"/>
          <p:nvPr/>
        </p:nvSpPr>
        <p:spPr>
          <a:xfrm>
            <a:off x="1371600" y="5586984"/>
            <a:ext cx="10241280" cy="475488"/>
          </a:xfrm>
          <a:prstGeom prst="rect">
            <a:avLst/>
          </a:prstGeom>
          <a:noFill/>
          <a:ln/>
        </p:spPr>
        <p:txBody>
          <a:bodyPr wrap="square" lIns="0" tIns="0" rIns="0" bIns="0" rtlCol="0" anchor="ctr"/>
          <a:lstStyle/>
          <a:p>
            <a:pPr indent="0" marL="0">
              <a:buNone/>
            </a:pPr>
            <a:r>
              <a:rPr lang="en-US" sz="1250" dirty="0">
                <a:solidFill>
                  <a:srgbClr val="5C6470"/>
                </a:solidFill>
                <a:latin typeface="Calibri" pitchFamily="34" charset="0"/>
                <a:ea typeface="Calibri" pitchFamily="34" charset="-122"/>
                <a:cs typeface="Calibri" pitchFamily="34" charset="-120"/>
              </a:rPr>
              <a:t>On a frozen corpus, grounding gives +0.049 nDCG@3 (p=0.007); coordination gives +0.018 nDCG@5 (p=0.87). The ladder tells them apart.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system: four evaluated agents, two added after</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The two post-evaluation agents are marked as such everywhere — no reported number depends on them</a:t>
            </a:r>
            <a:endParaRPr lang="en-US" sz="1400" dirty="0"/>
          </a:p>
        </p:txBody>
      </p:sp>
      <p:sp>
        <p:nvSpPr>
          <p:cNvPr id="4" name="Shape 2"/>
          <p:cNvSpPr/>
          <p:nvPr/>
        </p:nvSpPr>
        <p:spPr>
          <a:xfrm>
            <a:off x="640080" y="1783080"/>
            <a:ext cx="3520440" cy="1920240"/>
          </a:xfrm>
          <a:prstGeom prst="roundRect">
            <a:avLst>
              <a:gd name="adj" fmla="val 3810"/>
            </a:avLst>
          </a:prstGeom>
          <a:solidFill>
            <a:srgbClr val="F4F7FB"/>
          </a:solidFill>
          <a:ln w="12700">
            <a:solidFill>
              <a:srgbClr val="DDE3EC"/>
            </a:solidFill>
            <a:prstDash val="solid"/>
          </a:ln>
        </p:spPr>
      </p:sp>
      <p:sp>
        <p:nvSpPr>
          <p:cNvPr id="5" name="Text 3"/>
          <p:cNvSpPr txBox="1"/>
          <p:nvPr/>
        </p:nvSpPr>
        <p:spPr>
          <a:xfrm>
            <a:off x="896112" y="1965960"/>
            <a:ext cx="3017520" cy="292608"/>
          </a:xfrm>
          <a:prstGeom prst="rect">
            <a:avLst/>
          </a:prstGeom>
          <a:noFill/>
          <a:ln/>
        </p:spPr>
        <p:txBody>
          <a:bodyPr wrap="square" lIns="0" tIns="0" rIns="0" bIns="0" rtlCol="0" anchor="ctr"/>
          <a:lstStyle/>
          <a:p>
            <a:pPr indent="0" marL="0">
              <a:buNone/>
            </a:pPr>
            <a:r>
              <a:rPr lang="en-US" sz="1600" b="1" dirty="0">
                <a:solidFill>
                  <a:srgbClr val="C1443C"/>
                </a:solidFill>
                <a:latin typeface="Calibri" pitchFamily="34" charset="0"/>
                <a:ea typeface="Calibri" pitchFamily="34" charset="-122"/>
                <a:cs typeface="Calibri" pitchFamily="34" charset="-120"/>
              </a:rPr>
              <a:t>Query Rewriter</a:t>
            </a:r>
            <a:endParaRPr lang="en-US" sz="1600" dirty="0"/>
          </a:p>
        </p:txBody>
      </p:sp>
      <p:sp>
        <p:nvSpPr>
          <p:cNvPr id="6" name="Text 4"/>
          <p:cNvSpPr txBox="1"/>
          <p:nvPr/>
        </p:nvSpPr>
        <p:spPr>
          <a:xfrm>
            <a:off x="896112" y="2267712"/>
            <a:ext cx="3017520" cy="256032"/>
          </a:xfrm>
          <a:prstGeom prst="rect">
            <a:avLst/>
          </a:prstGeom>
          <a:noFill/>
          <a:ln/>
        </p:spPr>
        <p:txBody>
          <a:bodyPr wrap="square" lIns="0" tIns="0" rIns="0" bIns="0" rtlCol="0" anchor="ctr"/>
          <a:lstStyle/>
          <a:p>
            <a:pPr indent="0" marL="0">
              <a:buNone/>
            </a:pPr>
            <a:r>
              <a:rPr lang="en-US" sz="1100" i="1" dirty="0">
                <a:solidFill>
                  <a:srgbClr val="5C6470"/>
                </a:solidFill>
                <a:latin typeface="Calibri" pitchFamily="34" charset="0"/>
                <a:ea typeface="Calibri" pitchFamily="34" charset="-122"/>
                <a:cs typeface="Calibri" pitchFamily="34" charset="-120"/>
              </a:rPr>
              <a:t>Llama 3.1 · rule fallback</a:t>
            </a:r>
            <a:endParaRPr lang="en-US" sz="1100" dirty="0"/>
          </a:p>
        </p:txBody>
      </p:sp>
      <p:sp>
        <p:nvSpPr>
          <p:cNvPr id="7" name="Text 5"/>
          <p:cNvSpPr txBox="1"/>
          <p:nvPr/>
        </p:nvSpPr>
        <p:spPr>
          <a:xfrm>
            <a:off x="896112" y="2542032"/>
            <a:ext cx="3017520" cy="10515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Normalizes user vocabulary toward document vocabulary. Reads the self-improvement memory to bias toward terms that worked. The defect lived here — not in rewriting, in how its output was used.</a:t>
            </a:r>
            <a:endParaRPr lang="en-US" sz="1100" dirty="0"/>
          </a:p>
        </p:txBody>
      </p:sp>
      <p:sp>
        <p:nvSpPr>
          <p:cNvPr id="8" name="Shape 6"/>
          <p:cNvSpPr/>
          <p:nvPr/>
        </p:nvSpPr>
        <p:spPr>
          <a:xfrm>
            <a:off x="4416552" y="1783080"/>
            <a:ext cx="3520440" cy="1920240"/>
          </a:xfrm>
          <a:prstGeom prst="roundRect">
            <a:avLst>
              <a:gd name="adj" fmla="val 3810"/>
            </a:avLst>
          </a:prstGeom>
          <a:solidFill>
            <a:srgbClr val="F4F7FB"/>
          </a:solidFill>
          <a:ln w="12700">
            <a:solidFill>
              <a:srgbClr val="DDE3EC"/>
            </a:solidFill>
            <a:prstDash val="solid"/>
          </a:ln>
        </p:spPr>
      </p:sp>
      <p:sp>
        <p:nvSpPr>
          <p:cNvPr id="9" name="Text 7"/>
          <p:cNvSpPr txBox="1"/>
          <p:nvPr/>
        </p:nvSpPr>
        <p:spPr>
          <a:xfrm>
            <a:off x="4672584" y="1965960"/>
            <a:ext cx="3017520" cy="292608"/>
          </a:xfrm>
          <a:prstGeom prst="rect">
            <a:avLst/>
          </a:prstGeom>
          <a:noFill/>
          <a:ln/>
        </p:spPr>
        <p:txBody>
          <a:bodyPr wrap="square" lIns="0" tIns="0" rIns="0" bIns="0"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Retriever</a:t>
            </a:r>
            <a:endParaRPr lang="en-US" sz="1600" dirty="0"/>
          </a:p>
        </p:txBody>
      </p:sp>
      <p:sp>
        <p:nvSpPr>
          <p:cNvPr id="10" name="Text 8"/>
          <p:cNvSpPr txBox="1"/>
          <p:nvPr/>
        </p:nvSpPr>
        <p:spPr>
          <a:xfrm>
            <a:off x="4672584" y="2267712"/>
            <a:ext cx="3017520" cy="256032"/>
          </a:xfrm>
          <a:prstGeom prst="rect">
            <a:avLst/>
          </a:prstGeom>
          <a:noFill/>
          <a:ln/>
        </p:spPr>
        <p:txBody>
          <a:bodyPr wrap="square" lIns="0" tIns="0" rIns="0" bIns="0" rtlCol="0" anchor="ctr"/>
          <a:lstStyle/>
          <a:p>
            <a:pPr indent="0" marL="0">
              <a:buNone/>
            </a:pPr>
            <a:r>
              <a:rPr lang="en-US" sz="1100" i="1" dirty="0">
                <a:solidFill>
                  <a:srgbClr val="5C6470"/>
                </a:solidFill>
                <a:latin typeface="Calibri" pitchFamily="34" charset="0"/>
                <a:ea typeface="Calibri" pitchFamily="34" charset="-122"/>
                <a:cs typeface="Calibri" pitchFamily="34" charset="-120"/>
              </a:rPr>
              <a:t>union fetch · vendor-aware</a:t>
            </a:r>
            <a:endParaRPr lang="en-US" sz="1100" dirty="0"/>
          </a:p>
        </p:txBody>
      </p:sp>
      <p:sp>
        <p:nvSpPr>
          <p:cNvPr id="11" name="Text 9"/>
          <p:cNvSpPr txBox="1"/>
          <p:nvPr/>
        </p:nvSpPr>
        <p:spPr>
          <a:xfrm>
            <a:off x="4672584" y="2542032"/>
            <a:ext cx="3017520" cy="10515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Both phrasings issued to every endpoint, pools unioned and deduped by URL. Reranks against the original question (MARAG_RERANK = none | bm25 | embed). 14,223 product names, 628 subreddits.</a:t>
            </a:r>
            <a:endParaRPr lang="en-US" sz="1100" dirty="0"/>
          </a:p>
        </p:txBody>
      </p:sp>
      <p:sp>
        <p:nvSpPr>
          <p:cNvPr id="12" name="Shape 10"/>
          <p:cNvSpPr/>
          <p:nvPr/>
        </p:nvSpPr>
        <p:spPr>
          <a:xfrm>
            <a:off x="8193024" y="1783080"/>
            <a:ext cx="3520440" cy="1920240"/>
          </a:xfrm>
          <a:prstGeom prst="roundRect">
            <a:avLst>
              <a:gd name="adj" fmla="val 3810"/>
            </a:avLst>
          </a:prstGeom>
          <a:solidFill>
            <a:srgbClr val="F4F7FB"/>
          </a:solidFill>
          <a:ln w="12700">
            <a:solidFill>
              <a:srgbClr val="DDE3EC"/>
            </a:solidFill>
            <a:prstDash val="solid"/>
          </a:ln>
        </p:spPr>
      </p:sp>
      <p:sp>
        <p:nvSpPr>
          <p:cNvPr id="13" name="Text 11"/>
          <p:cNvSpPr txBox="1"/>
          <p:nvPr/>
        </p:nvSpPr>
        <p:spPr>
          <a:xfrm>
            <a:off x="8449056" y="1965960"/>
            <a:ext cx="3017520" cy="292608"/>
          </a:xfrm>
          <a:prstGeom prst="rect">
            <a:avLst/>
          </a:prstGeom>
          <a:noFill/>
          <a:ln/>
        </p:spPr>
        <p:txBody>
          <a:bodyPr wrap="square" lIns="0" tIns="0" rIns="0" bIns="0"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Evaluator</a:t>
            </a:r>
            <a:endParaRPr lang="en-US" sz="1600" dirty="0"/>
          </a:p>
        </p:txBody>
      </p:sp>
      <p:sp>
        <p:nvSpPr>
          <p:cNvPr id="14" name="Text 12"/>
          <p:cNvSpPr txBox="1"/>
          <p:nvPr/>
        </p:nvSpPr>
        <p:spPr>
          <a:xfrm>
            <a:off x="8449056" y="2267712"/>
            <a:ext cx="3017520" cy="256032"/>
          </a:xfrm>
          <a:prstGeom prst="rect">
            <a:avLst/>
          </a:prstGeom>
          <a:noFill/>
          <a:ln/>
        </p:spPr>
        <p:txBody>
          <a:bodyPr wrap="square" lIns="0" tIns="0" rIns="0" bIns="0" rtlCol="0" anchor="ctr"/>
          <a:lstStyle/>
          <a:p>
            <a:pPr indent="0" marL="0">
              <a:buNone/>
            </a:pPr>
            <a:r>
              <a:rPr lang="en-US" sz="1100" i="1" dirty="0">
                <a:solidFill>
                  <a:srgbClr val="5C6470"/>
                </a:solidFill>
                <a:latin typeface="Calibri" pitchFamily="34" charset="0"/>
                <a:ea typeface="Calibri" pitchFamily="34" charset="-122"/>
                <a:cs typeface="Calibri" pitchFamily="34" charset="-120"/>
              </a:rPr>
              <a:t>deterministic 0.0–1.0</a:t>
            </a:r>
            <a:endParaRPr lang="en-US" sz="1100" dirty="0"/>
          </a:p>
        </p:txBody>
      </p:sp>
      <p:sp>
        <p:nvSpPr>
          <p:cNvPr id="15" name="Text 13"/>
          <p:cNvSpPr txBox="1"/>
          <p:nvPr/>
        </p:nvSpPr>
        <p:spPr>
          <a:xfrm>
            <a:off x="8449056" y="2542032"/>
            <a:ext cx="3017520" cy="10515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Scores retrieval volume, release matches, community matches, CVE matches; emits an RLAIF-style signal. Negative signal fires below 0.15 — not the 0.30 the earlier write-up quoted.</a:t>
            </a:r>
            <a:endParaRPr lang="en-US" sz="1100" dirty="0"/>
          </a:p>
        </p:txBody>
      </p:sp>
      <p:sp>
        <p:nvSpPr>
          <p:cNvPr id="16" name="Shape 14"/>
          <p:cNvSpPr/>
          <p:nvPr/>
        </p:nvSpPr>
        <p:spPr>
          <a:xfrm>
            <a:off x="640080" y="3931920"/>
            <a:ext cx="3520440" cy="1920240"/>
          </a:xfrm>
          <a:prstGeom prst="roundRect">
            <a:avLst>
              <a:gd name="adj" fmla="val 3810"/>
            </a:avLst>
          </a:prstGeom>
          <a:solidFill>
            <a:srgbClr val="F4F7FB"/>
          </a:solidFill>
          <a:ln w="12700">
            <a:solidFill>
              <a:srgbClr val="DDE3EC"/>
            </a:solidFill>
            <a:prstDash val="solid"/>
          </a:ln>
        </p:spPr>
      </p:sp>
      <p:sp>
        <p:nvSpPr>
          <p:cNvPr id="17" name="Text 15"/>
          <p:cNvSpPr txBox="1"/>
          <p:nvPr/>
        </p:nvSpPr>
        <p:spPr>
          <a:xfrm>
            <a:off x="896112" y="4114800"/>
            <a:ext cx="3017520" cy="292608"/>
          </a:xfrm>
          <a:prstGeom prst="rect">
            <a:avLst/>
          </a:prstGeom>
          <a:noFill/>
          <a:ln/>
        </p:spPr>
        <p:txBody>
          <a:bodyPr wrap="square" lIns="0" tIns="0" rIns="0" bIns="0" rtlCol="0" anchor="ctr"/>
          <a:lstStyle/>
          <a:p>
            <a:pPr indent="0" marL="0">
              <a:buNone/>
            </a:pPr>
            <a:r>
              <a:rPr lang="en-US" sz="1600" b="1" dirty="0">
                <a:solidFill>
                  <a:srgbClr val="1C7293"/>
                </a:solidFill>
                <a:latin typeface="Calibri" pitchFamily="34" charset="0"/>
                <a:ea typeface="Calibri" pitchFamily="34" charset="-122"/>
                <a:cs typeface="Calibri" pitchFamily="34" charset="-120"/>
              </a:rPr>
              <a:t>Manager</a:t>
            </a:r>
            <a:endParaRPr lang="en-US" sz="1600" dirty="0"/>
          </a:p>
        </p:txBody>
      </p:sp>
      <p:sp>
        <p:nvSpPr>
          <p:cNvPr id="18" name="Text 16"/>
          <p:cNvSpPr txBox="1"/>
          <p:nvPr/>
        </p:nvSpPr>
        <p:spPr>
          <a:xfrm>
            <a:off x="896112" y="4416552"/>
            <a:ext cx="3017520" cy="256032"/>
          </a:xfrm>
          <a:prstGeom prst="rect">
            <a:avLst/>
          </a:prstGeom>
          <a:noFill/>
          <a:ln/>
        </p:spPr>
        <p:txBody>
          <a:bodyPr wrap="square" lIns="0" tIns="0" rIns="0" bIns="0" rtlCol="0" anchor="ctr"/>
          <a:lstStyle/>
          <a:p>
            <a:pPr indent="0" marL="0">
              <a:buNone/>
            </a:pPr>
            <a:r>
              <a:rPr lang="en-US" sz="1100" i="1" dirty="0">
                <a:solidFill>
                  <a:srgbClr val="5C6470"/>
                </a:solidFill>
                <a:latin typeface="Calibri" pitchFamily="34" charset="0"/>
                <a:ea typeface="Calibri" pitchFamily="34" charset="-122"/>
                <a:cs typeface="Calibri" pitchFamily="34" charset="-120"/>
              </a:rPr>
              <a:t>plan + corrective retry</a:t>
            </a:r>
            <a:endParaRPr lang="en-US" sz="1100" dirty="0"/>
          </a:p>
        </p:txBody>
      </p:sp>
      <p:sp>
        <p:nvSpPr>
          <p:cNvPr id="19" name="Text 17"/>
          <p:cNvSpPr txBox="1"/>
          <p:nvPr/>
        </p:nvSpPr>
        <p:spPr>
          <a:xfrm>
            <a:off x="896112" y="4690872"/>
            <a:ext cx="3017520" cy="10515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Plans the pipeline; on a negative signal sends the Retriever back with a widened fetch, still ranking against the user's own words.</a:t>
            </a:r>
            <a:endParaRPr lang="en-US" sz="1100" dirty="0"/>
          </a:p>
        </p:txBody>
      </p:sp>
      <p:sp>
        <p:nvSpPr>
          <p:cNvPr id="20" name="Shape 18"/>
          <p:cNvSpPr/>
          <p:nvPr/>
        </p:nvSpPr>
        <p:spPr>
          <a:xfrm>
            <a:off x="4416552" y="3931920"/>
            <a:ext cx="3520440" cy="1920240"/>
          </a:xfrm>
          <a:prstGeom prst="roundRect">
            <a:avLst>
              <a:gd name="adj" fmla="val 3810"/>
            </a:avLst>
          </a:prstGeom>
          <a:solidFill>
            <a:srgbClr val="F4F7FB"/>
          </a:solidFill>
          <a:ln w="12700">
            <a:solidFill>
              <a:srgbClr val="DDE3EC"/>
            </a:solidFill>
            <a:prstDash val="solid"/>
          </a:ln>
        </p:spPr>
      </p:sp>
      <p:sp>
        <p:nvSpPr>
          <p:cNvPr id="21" name="Text 19"/>
          <p:cNvSpPr txBox="1"/>
          <p:nvPr/>
        </p:nvSpPr>
        <p:spPr>
          <a:xfrm>
            <a:off x="4672584" y="4114800"/>
            <a:ext cx="3017520" cy="292608"/>
          </a:xfrm>
          <a:prstGeom prst="rect">
            <a:avLst/>
          </a:prstGeom>
          <a:noFill/>
          <a:ln/>
        </p:spPr>
        <p:txBody>
          <a:bodyPr wrap="square" lIns="0" tIns="0" rIns="0" bIns="0" rtlCol="0" anchor="ctr"/>
          <a:lstStyle/>
          <a:p>
            <a:pPr indent="0" marL="0">
              <a:buNone/>
            </a:pPr>
            <a:r>
              <a:rPr lang="en-US" sz="1600" b="1" dirty="0">
                <a:solidFill>
                  <a:srgbClr val="5C6470"/>
                </a:solidFill>
                <a:latin typeface="Calibri" pitchFamily="34" charset="0"/>
                <a:ea typeface="Calibri" pitchFamily="34" charset="-122"/>
                <a:cs typeface="Calibri" pitchFamily="34" charset="-120"/>
              </a:rPr>
              <a:t>Temporal Grounder</a:t>
            </a:r>
            <a:endParaRPr lang="en-US" sz="1600" dirty="0"/>
          </a:p>
        </p:txBody>
      </p:sp>
      <p:sp>
        <p:nvSpPr>
          <p:cNvPr id="22" name="Text 20"/>
          <p:cNvSpPr txBox="1"/>
          <p:nvPr/>
        </p:nvSpPr>
        <p:spPr>
          <a:xfrm>
            <a:off x="4672584" y="4416552"/>
            <a:ext cx="3017520" cy="256032"/>
          </a:xfrm>
          <a:prstGeom prst="rect">
            <a:avLst/>
          </a:prstGeom>
          <a:noFill/>
          <a:ln/>
        </p:spPr>
        <p:txBody>
          <a:bodyPr wrap="square" lIns="0" tIns="0" rIns="0" bIns="0" rtlCol="0" anchor="ctr"/>
          <a:lstStyle/>
          <a:p>
            <a:pPr indent="0" marL="0">
              <a:buNone/>
            </a:pPr>
            <a:r>
              <a:rPr lang="en-US" sz="1100" i="1" dirty="0">
                <a:solidFill>
                  <a:srgbClr val="5C6470"/>
                </a:solidFill>
                <a:latin typeface="Calibri" pitchFamily="34" charset="0"/>
                <a:ea typeface="Calibri" pitchFamily="34" charset="-122"/>
                <a:cs typeface="Calibri" pitchFamily="34" charset="-120"/>
              </a:rPr>
              <a:t>post-evaluation</a:t>
            </a:r>
            <a:endParaRPr lang="en-US" sz="1100" dirty="0"/>
          </a:p>
        </p:txBody>
      </p:sp>
      <p:sp>
        <p:nvSpPr>
          <p:cNvPr id="23" name="Text 21"/>
          <p:cNvSpPr txBox="1"/>
          <p:nvPr/>
        </p:nvSpPr>
        <p:spPr>
          <a:xfrm>
            <a:off x="4672584" y="4690872"/>
            <a:ext cx="3017520" cy="10515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Resolves “today” / “recently” to absolute dates before retrieval; the window ranks results rather than filtering them.</a:t>
            </a:r>
            <a:endParaRPr lang="en-US" sz="1100" dirty="0"/>
          </a:p>
        </p:txBody>
      </p:sp>
      <p:sp>
        <p:nvSpPr>
          <p:cNvPr id="24" name="Shape 22"/>
          <p:cNvSpPr/>
          <p:nvPr/>
        </p:nvSpPr>
        <p:spPr>
          <a:xfrm>
            <a:off x="8193024" y="3931920"/>
            <a:ext cx="3520440" cy="1920240"/>
          </a:xfrm>
          <a:prstGeom prst="roundRect">
            <a:avLst>
              <a:gd name="adj" fmla="val 3810"/>
            </a:avLst>
          </a:prstGeom>
          <a:solidFill>
            <a:srgbClr val="F4F7FB"/>
          </a:solidFill>
          <a:ln w="12700">
            <a:solidFill>
              <a:srgbClr val="DDE3EC"/>
            </a:solidFill>
            <a:prstDash val="solid"/>
          </a:ln>
        </p:spPr>
      </p:sp>
      <p:sp>
        <p:nvSpPr>
          <p:cNvPr id="25" name="Text 23"/>
          <p:cNvSpPr txBox="1"/>
          <p:nvPr/>
        </p:nvSpPr>
        <p:spPr>
          <a:xfrm>
            <a:off x="8449056" y="4114800"/>
            <a:ext cx="3017520" cy="292608"/>
          </a:xfrm>
          <a:prstGeom prst="rect">
            <a:avLst/>
          </a:prstGeom>
          <a:noFill/>
          <a:ln/>
        </p:spPr>
        <p:txBody>
          <a:bodyPr wrap="square" lIns="0" tIns="0" rIns="0" bIns="0" rtlCol="0" anchor="ctr"/>
          <a:lstStyle/>
          <a:p>
            <a:pPr indent="0" marL="0">
              <a:buNone/>
            </a:pPr>
            <a:r>
              <a:rPr lang="en-US" sz="1600" b="1" dirty="0">
                <a:solidFill>
                  <a:srgbClr val="5C6470"/>
                </a:solidFill>
                <a:latin typeface="Calibri" pitchFamily="34" charset="0"/>
                <a:ea typeface="Calibri" pitchFamily="34" charset="-122"/>
                <a:cs typeface="Calibri" pitchFamily="34" charset="-120"/>
              </a:rPr>
              <a:t>Answer Presenter</a:t>
            </a:r>
            <a:endParaRPr lang="en-US" sz="1600" dirty="0"/>
          </a:p>
        </p:txBody>
      </p:sp>
      <p:sp>
        <p:nvSpPr>
          <p:cNvPr id="26" name="Text 24"/>
          <p:cNvSpPr txBox="1"/>
          <p:nvPr/>
        </p:nvSpPr>
        <p:spPr>
          <a:xfrm>
            <a:off x="8449056" y="4416552"/>
            <a:ext cx="3017520" cy="256032"/>
          </a:xfrm>
          <a:prstGeom prst="rect">
            <a:avLst/>
          </a:prstGeom>
          <a:noFill/>
          <a:ln/>
        </p:spPr>
        <p:txBody>
          <a:bodyPr wrap="square" lIns="0" tIns="0" rIns="0" bIns="0" rtlCol="0" anchor="ctr"/>
          <a:lstStyle/>
          <a:p>
            <a:pPr indent="0" marL="0">
              <a:buNone/>
            </a:pPr>
            <a:r>
              <a:rPr lang="en-US" sz="1100" i="1" dirty="0">
                <a:solidFill>
                  <a:srgbClr val="5C6470"/>
                </a:solidFill>
                <a:latin typeface="Calibri" pitchFamily="34" charset="0"/>
                <a:ea typeface="Calibri" pitchFamily="34" charset="-122"/>
                <a:cs typeface="Calibri" pitchFamily="34" charset="-120"/>
              </a:rPr>
              <a:t>post-evaluation</a:t>
            </a:r>
            <a:endParaRPr lang="en-US" sz="1100" dirty="0"/>
          </a:p>
        </p:txBody>
      </p:sp>
      <p:sp>
        <p:nvSpPr>
          <p:cNvPr id="27" name="Text 25"/>
          <p:cNvSpPr txBox="1"/>
          <p:nvPr/>
        </p:nvSpPr>
        <p:spPr>
          <a:xfrm>
            <a:off x="8449056" y="4690872"/>
            <a:ext cx="3017520" cy="10515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Cited prose, one source per claim, replacing the bullet template. Labels itself when it composed by rule instead of by model.</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corpus and the four question sets</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Live endpoints over a MongoDB lake; verified and community tiers are kept separate and weighted differently</a:t>
            </a:r>
            <a:endParaRPr lang="en-US" sz="1400" dirty="0"/>
          </a:p>
        </p:txBody>
      </p:sp>
      <p:sp>
        <p:nvSpPr>
          <p:cNvPr id="4" name="Text 2"/>
          <p:cNvSpPr txBox="1"/>
          <p:nvPr/>
        </p:nvSpPr>
        <p:spPr>
          <a:xfrm>
            <a:off x="640080" y="1737360"/>
            <a:ext cx="5120640"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Live sources</a:t>
            </a:r>
            <a:endParaRPr lang="en-US" sz="1500" dirty="0"/>
          </a:p>
        </p:txBody>
      </p:sp>
      <p:sp>
        <p:nvSpPr>
          <p:cNvPr id="5" name="Text 3"/>
          <p:cNvSpPr txBox="1"/>
          <p:nvPr/>
        </p:nvSpPr>
        <p:spPr>
          <a:xfrm>
            <a:off x="685800" y="2103120"/>
            <a:ext cx="3749040" cy="32004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Software release notes</a:t>
            </a:r>
            <a:endParaRPr lang="en-US" sz="1300" dirty="0"/>
          </a:p>
        </p:txBody>
      </p:sp>
      <p:sp>
        <p:nvSpPr>
          <p:cNvPr id="6" name="Text 4"/>
          <p:cNvSpPr txBox="1"/>
          <p:nvPr/>
        </p:nvSpPr>
        <p:spPr>
          <a:xfrm>
            <a:off x="4434840" y="2103120"/>
            <a:ext cx="1280160" cy="320040"/>
          </a:xfrm>
          <a:prstGeom prst="rect">
            <a:avLst/>
          </a:prstGeom>
          <a:noFill/>
          <a:ln/>
        </p:spPr>
        <p:txBody>
          <a:bodyPr wrap="square" lIns="0" tIns="0" rIns="0" bIns="0" rtlCol="0" anchor="ctr"/>
          <a:lstStyle/>
          <a:p>
            <a:pPr algn="r" indent="0" marL="0">
              <a:buNone/>
            </a:pPr>
            <a:r>
              <a:rPr lang="en-US" sz="1300" b="1" dirty="0">
                <a:solidFill>
                  <a:srgbClr val="1C7293"/>
                </a:solidFill>
                <a:latin typeface="Calibri" pitchFamily="34" charset="0"/>
                <a:ea typeface="Calibri" pitchFamily="34" charset="-122"/>
                <a:cs typeface="Calibri" pitchFamily="34" charset="-120"/>
              </a:rPr>
              <a:t>31,958</a:t>
            </a:r>
            <a:endParaRPr lang="en-US" sz="1300" dirty="0"/>
          </a:p>
        </p:txBody>
      </p:sp>
      <p:sp>
        <p:nvSpPr>
          <p:cNvPr id="7" name="Text 5"/>
          <p:cNvSpPr txBox="1"/>
          <p:nvPr/>
        </p:nvSpPr>
        <p:spPr>
          <a:xfrm>
            <a:off x="685800" y="2487168"/>
            <a:ext cx="3749040" cy="32004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CVE / vulnerability advisories</a:t>
            </a:r>
            <a:endParaRPr lang="en-US" sz="1300" dirty="0"/>
          </a:p>
        </p:txBody>
      </p:sp>
      <p:sp>
        <p:nvSpPr>
          <p:cNvPr id="8" name="Text 6"/>
          <p:cNvSpPr txBox="1"/>
          <p:nvPr/>
        </p:nvSpPr>
        <p:spPr>
          <a:xfrm>
            <a:off x="4434840" y="2487168"/>
            <a:ext cx="1280160" cy="320040"/>
          </a:xfrm>
          <a:prstGeom prst="rect">
            <a:avLst/>
          </a:prstGeom>
          <a:noFill/>
          <a:ln/>
        </p:spPr>
        <p:txBody>
          <a:bodyPr wrap="square" lIns="0" tIns="0" rIns="0" bIns="0" rtlCol="0" anchor="ctr"/>
          <a:lstStyle/>
          <a:p>
            <a:pPr algn="r" indent="0" marL="0">
              <a:buNone/>
            </a:pPr>
            <a:r>
              <a:rPr lang="en-US" sz="1300" b="1" dirty="0">
                <a:solidFill>
                  <a:srgbClr val="1C7293"/>
                </a:solidFill>
                <a:latin typeface="Calibri" pitchFamily="34" charset="0"/>
                <a:ea typeface="Calibri" pitchFamily="34" charset="-122"/>
                <a:cs typeface="Calibri" pitchFamily="34" charset="-120"/>
              </a:rPr>
              <a:t>24,139</a:t>
            </a:r>
            <a:endParaRPr lang="en-US" sz="1300" dirty="0"/>
          </a:p>
        </p:txBody>
      </p:sp>
      <p:sp>
        <p:nvSpPr>
          <p:cNvPr id="9" name="Text 7"/>
          <p:cNvSpPr txBox="1"/>
          <p:nvPr/>
        </p:nvSpPr>
        <p:spPr>
          <a:xfrm>
            <a:off x="685800" y="2871216"/>
            <a:ext cx="3749040" cy="32004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Reddit discussions</a:t>
            </a:r>
            <a:endParaRPr lang="en-US" sz="1300" dirty="0"/>
          </a:p>
        </p:txBody>
      </p:sp>
      <p:sp>
        <p:nvSpPr>
          <p:cNvPr id="10" name="Text 8"/>
          <p:cNvSpPr txBox="1"/>
          <p:nvPr/>
        </p:nvSpPr>
        <p:spPr>
          <a:xfrm>
            <a:off x="4434840" y="2871216"/>
            <a:ext cx="1280160" cy="320040"/>
          </a:xfrm>
          <a:prstGeom prst="rect">
            <a:avLst/>
          </a:prstGeom>
          <a:noFill/>
          <a:ln/>
        </p:spPr>
        <p:txBody>
          <a:bodyPr wrap="square" lIns="0" tIns="0" rIns="0" bIns="0" rtlCol="0" anchor="ctr"/>
          <a:lstStyle/>
          <a:p>
            <a:pPr algn="r" indent="0" marL="0">
              <a:buNone/>
            </a:pPr>
            <a:r>
              <a:rPr lang="en-US" sz="1300" b="1" dirty="0">
                <a:solidFill>
                  <a:srgbClr val="1C7293"/>
                </a:solidFill>
                <a:latin typeface="Calibri" pitchFamily="34" charset="0"/>
                <a:ea typeface="Calibri" pitchFamily="34" charset="-122"/>
                <a:cs typeface="Calibri" pitchFamily="34" charset="-120"/>
              </a:rPr>
              <a:t>208,466</a:t>
            </a:r>
            <a:endParaRPr lang="en-US" sz="1300" dirty="0"/>
          </a:p>
        </p:txBody>
      </p:sp>
      <p:sp>
        <p:nvSpPr>
          <p:cNvPr id="11" name="Text 9"/>
          <p:cNvSpPr txBox="1"/>
          <p:nvPr/>
        </p:nvSpPr>
        <p:spPr>
          <a:xfrm>
            <a:off x="685800" y="3255264"/>
            <a:ext cx="3749040" cy="32004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Update-risk discussions</a:t>
            </a:r>
            <a:endParaRPr lang="en-US" sz="1300" dirty="0"/>
          </a:p>
        </p:txBody>
      </p:sp>
      <p:sp>
        <p:nvSpPr>
          <p:cNvPr id="12" name="Text 10"/>
          <p:cNvSpPr txBox="1"/>
          <p:nvPr/>
        </p:nvSpPr>
        <p:spPr>
          <a:xfrm>
            <a:off x="4434840" y="3255264"/>
            <a:ext cx="1280160" cy="320040"/>
          </a:xfrm>
          <a:prstGeom prst="rect">
            <a:avLst/>
          </a:prstGeom>
          <a:noFill/>
          <a:ln/>
        </p:spPr>
        <p:txBody>
          <a:bodyPr wrap="square" lIns="0" tIns="0" rIns="0" bIns="0" rtlCol="0" anchor="ctr"/>
          <a:lstStyle/>
          <a:p>
            <a:pPr algn="r" indent="0" marL="0">
              <a:buNone/>
            </a:pPr>
            <a:r>
              <a:rPr lang="en-US" sz="1300" b="1" dirty="0">
                <a:solidFill>
                  <a:srgbClr val="1C7293"/>
                </a:solidFill>
                <a:latin typeface="Calibri" pitchFamily="34" charset="0"/>
                <a:ea typeface="Calibri" pitchFamily="34" charset="-122"/>
                <a:cs typeface="Calibri" pitchFamily="34" charset="-120"/>
              </a:rPr>
              <a:t>2,637</a:t>
            </a:r>
            <a:endParaRPr lang="en-US" sz="1300" dirty="0"/>
          </a:p>
        </p:txBody>
      </p:sp>
      <p:sp>
        <p:nvSpPr>
          <p:cNvPr id="13" name="Text 11"/>
          <p:cNvSpPr txBox="1"/>
          <p:nvPr/>
        </p:nvSpPr>
        <p:spPr>
          <a:xfrm>
            <a:off x="685800" y="3639312"/>
            <a:ext cx="3749040" cy="32004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Vendor registry entries</a:t>
            </a:r>
            <a:endParaRPr lang="en-US" sz="1300" dirty="0"/>
          </a:p>
        </p:txBody>
      </p:sp>
      <p:sp>
        <p:nvSpPr>
          <p:cNvPr id="14" name="Text 12"/>
          <p:cNvSpPr txBox="1"/>
          <p:nvPr/>
        </p:nvSpPr>
        <p:spPr>
          <a:xfrm>
            <a:off x="4434840" y="3639312"/>
            <a:ext cx="1280160" cy="320040"/>
          </a:xfrm>
          <a:prstGeom prst="rect">
            <a:avLst/>
          </a:prstGeom>
          <a:noFill/>
          <a:ln/>
        </p:spPr>
        <p:txBody>
          <a:bodyPr wrap="square" lIns="0" tIns="0" rIns="0" bIns="0" rtlCol="0" anchor="ctr"/>
          <a:lstStyle/>
          <a:p>
            <a:pPr algn="r" indent="0" marL="0">
              <a:buNone/>
            </a:pPr>
            <a:r>
              <a:rPr lang="en-US" sz="1300" b="1" dirty="0">
                <a:solidFill>
                  <a:srgbClr val="1C7293"/>
                </a:solidFill>
                <a:latin typeface="Calibri" pitchFamily="34" charset="0"/>
                <a:ea typeface="Calibri" pitchFamily="34" charset="-122"/>
                <a:cs typeface="Calibri" pitchFamily="34" charset="-120"/>
              </a:rPr>
              <a:t>6,578</a:t>
            </a:r>
            <a:endParaRPr lang="en-US" sz="1300" dirty="0"/>
          </a:p>
        </p:txBody>
      </p:sp>
      <p:sp>
        <p:nvSpPr>
          <p:cNvPr id="15" name="Text 13"/>
          <p:cNvSpPr txBox="1"/>
          <p:nvPr/>
        </p:nvSpPr>
        <p:spPr>
          <a:xfrm>
            <a:off x="685800" y="4023360"/>
            <a:ext cx="3749040" cy="32004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Apple RSS · CISA KEV · CIRCL · News</a:t>
            </a:r>
            <a:endParaRPr lang="en-US" sz="1300" dirty="0"/>
          </a:p>
        </p:txBody>
      </p:sp>
      <p:sp>
        <p:nvSpPr>
          <p:cNvPr id="16" name="Text 14"/>
          <p:cNvSpPr txBox="1"/>
          <p:nvPr/>
        </p:nvSpPr>
        <p:spPr>
          <a:xfrm>
            <a:off x="4434840" y="4023360"/>
            <a:ext cx="1280160" cy="320040"/>
          </a:xfrm>
          <a:prstGeom prst="rect">
            <a:avLst/>
          </a:prstGeom>
          <a:noFill/>
          <a:ln/>
        </p:spPr>
        <p:txBody>
          <a:bodyPr wrap="square" lIns="0" tIns="0" rIns="0" bIns="0" rtlCol="0" anchor="ctr"/>
          <a:lstStyle/>
          <a:p>
            <a:pPr algn="r" indent="0" marL="0">
              <a:buNone/>
            </a:pPr>
            <a:r>
              <a:rPr lang="en-US" sz="1300" b="1" dirty="0">
                <a:solidFill>
                  <a:srgbClr val="1C7293"/>
                </a:solidFill>
                <a:latin typeface="Calibri" pitchFamily="34" charset="0"/>
                <a:ea typeface="Calibri" pitchFamily="34" charset="-122"/>
                <a:cs typeface="Calibri" pitchFamily="34" charset="-120"/>
              </a:rPr>
              <a:t>feeds</a:t>
            </a:r>
            <a:endParaRPr lang="en-US" sz="1300" dirty="0"/>
          </a:p>
        </p:txBody>
      </p:sp>
      <p:sp>
        <p:nvSpPr>
          <p:cNvPr id="17" name="Text 15"/>
          <p:cNvSpPr txBox="1"/>
          <p:nvPr/>
        </p:nvSpPr>
        <p:spPr>
          <a:xfrm>
            <a:off x="685800" y="4526280"/>
            <a:ext cx="5029200" cy="32004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Stack Overflow is in the lake but not yet wired into the Retriever.</a:t>
            </a:r>
            <a:endParaRPr lang="en-US" sz="1150" dirty="0"/>
          </a:p>
        </p:txBody>
      </p:sp>
      <p:sp>
        <p:nvSpPr>
          <p:cNvPr id="18" name="Text 16"/>
          <p:cNvSpPr txBox="1"/>
          <p:nvPr/>
        </p:nvSpPr>
        <p:spPr>
          <a:xfrm>
            <a:off x="6309360" y="1737360"/>
            <a:ext cx="5212080"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Question sets</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2084832"/>
          <a:ext cx="5212080" cy="914400"/>
        </p:xfrm>
        <a:graphic>
          <a:graphicData uri="http://schemas.openxmlformats.org/drawingml/2006/table">
            <a:tbl>
              <a:tblPr/>
              <a:tblGrid>
                <a:gridCol w="1737360"/>
                <a:gridCol w="640080"/>
                <a:gridCol w="283464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r>
              <a:tr h="475488">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table_50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The original +17.2% result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validation_gt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Hand-judged; directional only</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75488">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benchmark_100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21 ecosystems; the ladder</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benchmark_300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24 ecosystems; the headline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bl>
          </a:graphicData>
        </a:graphic>
      </p:graphicFrame>
      <p:sp>
        <p:nvSpPr>
          <p:cNvPr id="20" name="Text 17"/>
          <p:cNvSpPr txBox="1"/>
          <p:nvPr/>
        </p:nvSpPr>
        <p:spPr>
          <a:xfrm>
            <a:off x="6309360" y="4572000"/>
            <a:ext cx="5212080" cy="118872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Categories: releases · bugs · security · community · general, 60 per category at n = 300. CVE rows that label the index token rather than the affected product, and rows with corrupt dates, are dropped rather than templated into fabricated questions.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evaluation harness</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eval_harness/ — the tool the whole argument rests on; it runs offline and reproduces from the repo</a:t>
            </a:r>
            <a:endParaRPr lang="en-US" sz="1400" dirty="0"/>
          </a:p>
        </p:txBody>
      </p:sp>
      <p:sp>
        <p:nvSpPr>
          <p:cNvPr id="4" name="Shape 2"/>
          <p:cNvSpPr/>
          <p:nvPr/>
        </p:nvSpPr>
        <p:spPr>
          <a:xfrm>
            <a:off x="640080" y="1783080"/>
            <a:ext cx="3520440" cy="4023360"/>
          </a:xfrm>
          <a:prstGeom prst="roundRect">
            <a:avLst>
              <a:gd name="adj" fmla="val 2078"/>
            </a:avLst>
          </a:prstGeom>
          <a:solidFill>
            <a:srgbClr val="F4F7FB"/>
          </a:solidFill>
          <a:ln w="12700">
            <a:solidFill>
              <a:srgbClr val="DDE3EC"/>
            </a:solidFill>
            <a:prstDash val="solid"/>
          </a:ln>
        </p:spPr>
      </p:sp>
      <p:sp>
        <p:nvSpPr>
          <p:cNvPr id="5" name="Text 3"/>
          <p:cNvSpPr txBox="1"/>
          <p:nvPr/>
        </p:nvSpPr>
        <p:spPr>
          <a:xfrm>
            <a:off x="896112" y="1965960"/>
            <a:ext cx="3017520" cy="320040"/>
          </a:xfrm>
          <a:prstGeom prst="rect">
            <a:avLst/>
          </a:prstGeom>
          <a:noFill/>
          <a:ln/>
        </p:spPr>
        <p:txBody>
          <a:bodyPr wrap="square" lIns="0" tIns="0" rIns="0" bIns="0" rtlCol="0" anchor="ctr"/>
          <a:lstStyle/>
          <a:p>
            <a:pPr indent="0" marL="0">
              <a:buNone/>
            </a:pPr>
            <a:r>
              <a:rPr lang="en-US" sz="1500" b="1" dirty="0">
                <a:solidFill>
                  <a:srgbClr val="1C7293"/>
                </a:solidFill>
                <a:latin typeface="Calibri" pitchFamily="34" charset="0"/>
                <a:ea typeface="Calibri" pitchFamily="34" charset="-122"/>
                <a:cs typeface="Calibri" pitchFamily="34" charset="-120"/>
              </a:rPr>
              <a:t>What it measures</a:t>
            </a:r>
            <a:endParaRPr lang="en-US" sz="1500" dirty="0"/>
          </a:p>
        </p:txBody>
      </p:sp>
      <p:sp>
        <p:nvSpPr>
          <p:cNvPr id="6" name="Text 4"/>
          <p:cNvSpPr txBox="1"/>
          <p:nvPr/>
        </p:nvSpPr>
        <p:spPr>
          <a:xfrm>
            <a:off x="896112" y="2377440"/>
            <a:ext cx="3017520" cy="32918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Recall@k, Precision@k, nDCG@k, MRR over judged relevance</a:t>
            </a:r>
            <a:endParaRPr lang="en-US" sz="1150" dirty="0"/>
          </a:p>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Faithfulness, answer relevance, correctness via an LLM judge</a:t>
            </a:r>
            <a:endParaRPr lang="en-US" sz="1150" dirty="0"/>
          </a:p>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Candidate-pool recall — the ceiling a reranker could reach</a:t>
            </a:r>
            <a:endParaRPr lang="en-US" sz="1150" dirty="0"/>
          </a:p>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Mean + confidence interval on every metric</a:t>
            </a:r>
            <a:endParaRPr lang="en-US" sz="1150" dirty="0"/>
          </a:p>
        </p:txBody>
      </p:sp>
      <p:sp>
        <p:nvSpPr>
          <p:cNvPr id="7" name="Shape 5"/>
          <p:cNvSpPr/>
          <p:nvPr/>
        </p:nvSpPr>
        <p:spPr>
          <a:xfrm>
            <a:off x="4416552" y="1783080"/>
            <a:ext cx="3520440" cy="4023360"/>
          </a:xfrm>
          <a:prstGeom prst="roundRect">
            <a:avLst>
              <a:gd name="adj" fmla="val 2078"/>
            </a:avLst>
          </a:prstGeom>
          <a:solidFill>
            <a:srgbClr val="F4F7FB"/>
          </a:solidFill>
          <a:ln w="12700">
            <a:solidFill>
              <a:srgbClr val="DDE3EC"/>
            </a:solidFill>
            <a:prstDash val="solid"/>
          </a:ln>
        </p:spPr>
      </p:sp>
      <p:sp>
        <p:nvSpPr>
          <p:cNvPr id="8" name="Text 6"/>
          <p:cNvSpPr txBox="1"/>
          <p:nvPr/>
        </p:nvSpPr>
        <p:spPr>
          <a:xfrm>
            <a:off x="4672584" y="196596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How it stays honest</a:t>
            </a:r>
            <a:endParaRPr lang="en-US" sz="1500" dirty="0"/>
          </a:p>
        </p:txBody>
      </p:sp>
      <p:sp>
        <p:nvSpPr>
          <p:cNvPr id="9" name="Text 7"/>
          <p:cNvSpPr txBox="1"/>
          <p:nvPr/>
        </p:nvSpPr>
        <p:spPr>
          <a:xfrm>
            <a:off x="4672584" y="2377440"/>
            <a:ext cx="3017520" cy="32918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Corpus record / replay — freeze the documents, then replay per arm</a:t>
            </a:r>
            <a:endParaRPr lang="en-US" sz="1150" dirty="0"/>
          </a:p>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Admissibility gate: a run with any live corpus read is not comparable</a:t>
            </a:r>
            <a:endParaRPr lang="en-US" sz="1150" dirty="0"/>
          </a:p>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Pool-identity gate: all arms must see the same pre-rerank candidates</a:t>
            </a:r>
            <a:endParaRPr lang="en-US" sz="1150" dirty="0"/>
          </a:p>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Atomic qrels cache, keyed by question text, so two writers cannot tear it</a:t>
            </a:r>
            <a:endParaRPr lang="en-US" sz="1150" dirty="0"/>
          </a:p>
        </p:txBody>
      </p:sp>
      <p:sp>
        <p:nvSpPr>
          <p:cNvPr id="10" name="Shape 8"/>
          <p:cNvSpPr/>
          <p:nvPr/>
        </p:nvSpPr>
        <p:spPr>
          <a:xfrm>
            <a:off x="8193024" y="1783080"/>
            <a:ext cx="3520440" cy="4023360"/>
          </a:xfrm>
          <a:prstGeom prst="roundRect">
            <a:avLst>
              <a:gd name="adj" fmla="val 2078"/>
            </a:avLst>
          </a:prstGeom>
          <a:solidFill>
            <a:srgbClr val="F4F7FB"/>
          </a:solidFill>
          <a:ln w="12700">
            <a:solidFill>
              <a:srgbClr val="DDE3EC"/>
            </a:solidFill>
            <a:prstDash val="solid"/>
          </a:ln>
        </p:spPr>
      </p:sp>
      <p:sp>
        <p:nvSpPr>
          <p:cNvPr id="11" name="Text 9"/>
          <p:cNvSpPr txBox="1"/>
          <p:nvPr/>
        </p:nvSpPr>
        <p:spPr>
          <a:xfrm>
            <a:off x="8449056" y="1965960"/>
            <a:ext cx="3017520" cy="320040"/>
          </a:xfrm>
          <a:prstGeom prst="rect">
            <a:avLst/>
          </a:prstGeom>
          <a:noFill/>
          <a:ln/>
        </p:spPr>
        <p:txBody>
          <a:bodyPr wrap="square" lIns="0" tIns="0" rIns="0" bIns="0" rtlCol="0" anchor="ctr"/>
          <a:lstStyle/>
          <a:p>
            <a:pPr indent="0" marL="0">
              <a:buNone/>
            </a:pPr>
            <a:r>
              <a:rPr lang="en-US" sz="1500" b="1" dirty="0">
                <a:solidFill>
                  <a:srgbClr val="6B7F3E"/>
                </a:solidFill>
                <a:latin typeface="Calibri" pitchFamily="34" charset="0"/>
                <a:ea typeface="Calibri" pitchFamily="34" charset="-122"/>
                <a:cs typeface="Calibri" pitchFamily="34" charset="-120"/>
              </a:rPr>
              <a:t>What it can run</a:t>
            </a:r>
            <a:endParaRPr lang="en-US" sz="1500" dirty="0"/>
          </a:p>
        </p:txBody>
      </p:sp>
      <p:sp>
        <p:nvSpPr>
          <p:cNvPr id="12" name="Text 10"/>
          <p:cNvSpPr txBox="1"/>
          <p:nvPr/>
        </p:nvSpPr>
        <p:spPr>
          <a:xfrm>
            <a:off x="8449056" y="2377440"/>
            <a:ext cx="3017520" cy="32918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Arms: marag, marag_llm, marag_retry, single_agent, grounded, rewrite_only, raw, self-reflective</a:t>
            </a:r>
            <a:endParaRPr lang="en-US" sz="1150" dirty="0"/>
          </a:p>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Rerankers: none | bm25 | embed — none reproduces the published behaviour</a:t>
            </a:r>
            <a:endParaRPr lang="en-US" sz="1150" dirty="0"/>
          </a:p>
          <a:p>
            <a:pPr marL="342900" indent="-342900">
              <a:spcAft>
                <a:spcPts val="800"/>
              </a:spcAft>
              <a:buSzPct val="100000"/>
              <a:buChar char="•"/>
            </a:pPr>
            <a:r>
              <a:rPr lang="en-US" sz="1150" dirty="0">
                <a:solidFill>
                  <a:srgbClr val="1A1A1A"/>
                </a:solidFill>
                <a:latin typeface="Calibri" pitchFamily="34" charset="0"/>
                <a:ea typeface="Calibri" pitchFamily="34" charset="-122"/>
                <a:cs typeface="Calibri" pitchFamily="34" charset="-120"/>
              </a:rPr>
              <a:t>--resume for multi-day runs, seed 42, --judge-pool for cross-system pooling</a:t>
            </a:r>
            <a:endParaRPr lang="en-US" sz="1150" dirty="0"/>
          </a:p>
        </p:txBody>
      </p:sp>
      <p:sp>
        <p:nvSpPr>
          <p:cNvPr id="13" name="Text 11"/>
          <p:cNvSpPr txBox="1"/>
          <p:nvPr/>
        </p:nvSpPr>
        <p:spPr>
          <a:xfrm>
            <a:off x="640080" y="6172200"/>
            <a:ext cx="10911535" cy="320040"/>
          </a:xfrm>
          <a:prstGeom prst="rect">
            <a:avLst/>
          </a:prstGeom>
          <a:noFill/>
          <a:ln/>
        </p:spPr>
        <p:txBody>
          <a:bodyPr wrap="square" lIns="0" tIns="0" rIns="0" bIns="0" rtlCol="0" anchor="ctr"/>
          <a:lstStyle/>
          <a:p>
            <a:pPr indent="0" marL="0">
              <a:buNone/>
            </a:pPr>
            <a:r>
              <a:rPr lang="en-US" sz="1100" dirty="0">
                <a:solidFill>
                  <a:srgbClr val="5C6470"/>
                </a:solidFill>
                <a:latin typeface="Calibri" pitchFamily="34" charset="0"/>
                <a:ea typeface="Calibri" pitchFamily="34" charset="-122"/>
                <a:cs typeface="Calibri" pitchFamily="34" charset="-120"/>
              </a:rPr>
              <a:t>Determinism fix worth naming: extract_vendor broke tied matches by iterating a raw set, whose order PYTHONHASHSEED randomizes per process — so separate arms could ask the frozen corpus different questions. Fixed with sorted(), pinned by 4 tests.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Models, and where each one is used</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Everything reported to date runs locally on Ollama — no closed-model API calls, no key required</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48840"/>
                <a:gridCol w="3520440"/>
                <a:gridCol w="2743200"/>
                <a:gridCol w="2496312"/>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 it appears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r>
              <a:tr h="4572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llama3.1 (8B)</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Query rewriting, answer synthesis, judge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n=10, n=100 and n=300 runs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C7293"/>
                          </a:solidFill>
                          <a:latin typeface="Calibri" pitchFamily="34" charset="0"/>
                          <a:ea typeface="Calibri" pitchFamily="34" charset="-122"/>
                          <a:cs typeface="Calibri" pitchFamily="34" charset="-120"/>
                        </a:rPr>
                        <a:t>In use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mistral</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Answer synthesis, held constant across arms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The frozen ablation ladder</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b="1" dirty="0">
                          <a:solidFill>
                            <a:srgbClr val="1C7293"/>
                          </a:solidFill>
                          <a:latin typeface="Calibri" pitchFamily="34" charset="0"/>
                          <a:ea typeface="Calibri" pitchFamily="34" charset="-122"/>
                          <a:cs typeface="Calibri" pitchFamily="34" charset="-120"/>
                        </a:rPr>
                        <a:t>In use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572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nomic-embed-text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Embedding reranker (MARAG_RERANK=embed)</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Every post-fix retrieval number</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C7293"/>
                          </a:solidFill>
                          <a:latin typeface="Calibri" pitchFamily="34" charset="0"/>
                          <a:ea typeface="Calibri" pitchFamily="34" charset="-122"/>
                          <a:cs typeface="Calibri" pitchFamily="34" charset="-120"/>
                        </a:rPr>
                        <a:t>In use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qwen2.5:7b-instruct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Judge that wrote none of the answers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The frozen ladder run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b="1" dirty="0">
                          <a:solidFill>
                            <a:srgbClr val="1C7293"/>
                          </a:solidFill>
                          <a:latin typeface="Calibri" pitchFamily="34" charset="0"/>
                          <a:ea typeface="Calibri" pitchFamily="34" charset="-122"/>
                          <a:cs typeface="Calibri" pitchFamily="34" charset="-120"/>
                        </a:rPr>
                        <a:t>In use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572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openai:gpt-4o</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Independent judge — removes family overlap</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Phase 4</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C1443C"/>
                          </a:solidFill>
                          <a:latin typeface="Calibri" pitchFamily="34" charset="0"/>
                          <a:ea typeface="Calibri" pitchFamily="34" charset="-122"/>
                          <a:cs typeface="Calibri" pitchFamily="34" charset="-120"/>
                        </a:rPr>
                        <a:t>Blocked · needs API key</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Gemini, GPT backends</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Additional generation backends, benchmarked vs Mistral</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Week 11 milestone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5C647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bl>
          </a:graphicData>
        </a:graphic>
      </p:graphicFrame>
      <p:sp>
        <p:nvSpPr>
          <p:cNvPr id="5" name="Shape 2"/>
          <p:cNvSpPr/>
          <p:nvPr/>
        </p:nvSpPr>
        <p:spPr>
          <a:xfrm>
            <a:off x="640080" y="5166360"/>
            <a:ext cx="10911535" cy="960120"/>
          </a:xfrm>
          <a:prstGeom prst="roundRect">
            <a:avLst>
              <a:gd name="adj" fmla="val 7619"/>
            </a:avLst>
          </a:prstGeom>
          <a:solidFill>
            <a:srgbClr val="F4F7FB"/>
          </a:solidFill>
          <a:ln w="12700">
            <a:solidFill>
              <a:srgbClr val="DDE3EC"/>
            </a:solidFill>
            <a:prstDash val="solid"/>
          </a:ln>
        </p:spPr>
      </p:sp>
      <p:sp>
        <p:nvSpPr>
          <p:cNvPr id="6" name="Text 3"/>
          <p:cNvSpPr txBox="1"/>
          <p:nvPr/>
        </p:nvSpPr>
        <p:spPr>
          <a:xfrm>
            <a:off x="914400" y="5321808"/>
            <a:ext cx="10362895" cy="6858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The provider layer already supports all three. </a:t>
            </a:r>
            <a:pPr indent="0" marL="0">
              <a:buNone/>
            </a:pPr>
            <a:r>
              <a:rPr lang="en-US" sz="1250" dirty="0">
                <a:solidFill>
                  <a:srgbClr val="1A1A1A"/>
                </a:solidFill>
                <a:latin typeface="Calibri" pitchFamily="34" charset="0"/>
                <a:ea typeface="Calibri" pitchFamily="34" charset="-122"/>
                <a:cs typeface="Calibri" pitchFamily="34" charset="-120"/>
              </a:rPr>
              <a:t>eval_harness/providers.py takes a “backend:model” spec — ollama:*, openai:*, anthropic:* — so adding Gemini or GPT in Week 11 is a client class and a spec string, not a rewrite of the pipeline. The same mechanism is what makes “hold the synthesis model constant across arms” a flag rather than an experiment redesign.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negative result was found</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Six findings, in the order they happened — including the diagnosis that turned out to be wrong</a:t>
            </a:r>
            <a:endParaRPr lang="en-US" sz="1400" dirty="0"/>
          </a:p>
        </p:txBody>
      </p:sp>
      <p:sp>
        <p:nvSpPr>
          <p:cNvPr id="4" name="Text 2"/>
          <p:cNvSpPr txBox="1"/>
          <p:nvPr/>
        </p:nvSpPr>
        <p:spPr>
          <a:xfrm>
            <a:off x="640080" y="1828800"/>
            <a:ext cx="914400" cy="41148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F1</a:t>
            </a:r>
            <a:endParaRPr lang="en-US" sz="2400" dirty="0"/>
          </a:p>
        </p:txBody>
      </p:sp>
      <p:sp>
        <p:nvSpPr>
          <p:cNvPr id="5" name="Text 3"/>
          <p:cNvSpPr txBox="1"/>
          <p:nvPr/>
        </p:nvSpPr>
        <p:spPr>
          <a:xfrm>
            <a:off x="640080" y="2286000"/>
            <a:ext cx="33832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inversion</a:t>
            </a:r>
            <a:endParaRPr lang="en-US" sz="1600" dirty="0"/>
          </a:p>
        </p:txBody>
      </p:sp>
      <p:sp>
        <p:nvSpPr>
          <p:cNvPr id="6" name="Text 4"/>
          <p:cNvSpPr txBox="1"/>
          <p:nvPr/>
        </p:nvSpPr>
        <p:spPr>
          <a:xfrm>
            <a:off x="640080" y="2633472"/>
            <a:ext cx="3383280" cy="109728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marag nDCG@3 0.193 vs baseline 0.743. The published gain does not survive standard IR metrics.</a:t>
            </a:r>
            <a:endParaRPr lang="en-US" sz="1250" dirty="0"/>
          </a:p>
        </p:txBody>
      </p:sp>
      <p:sp>
        <p:nvSpPr>
          <p:cNvPr id="7" name="Text 5"/>
          <p:cNvSpPr txBox="1"/>
          <p:nvPr/>
        </p:nvSpPr>
        <p:spPr>
          <a:xfrm>
            <a:off x="4416552" y="1828800"/>
            <a:ext cx="914400" cy="41148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F2</a:t>
            </a:r>
            <a:endParaRPr lang="en-US" sz="2400" dirty="0"/>
          </a:p>
        </p:txBody>
      </p:sp>
      <p:sp>
        <p:nvSpPr>
          <p:cNvPr id="8" name="Text 6"/>
          <p:cNvSpPr txBox="1"/>
          <p:nvPr/>
        </p:nvSpPr>
        <p:spPr>
          <a:xfrm>
            <a:off x="4416552" y="2286000"/>
            <a:ext cx="33832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First diagnosis</a:t>
            </a:r>
            <a:endParaRPr lang="en-US" sz="1600" dirty="0"/>
          </a:p>
        </p:txBody>
      </p:sp>
      <p:sp>
        <p:nvSpPr>
          <p:cNvPr id="9" name="Text 7"/>
          <p:cNvSpPr txBox="1"/>
          <p:nvPr/>
        </p:nvSpPr>
        <p:spPr>
          <a:xfrm>
            <a:off x="4416552" y="2633472"/>
            <a:ext cx="3383280" cy="109728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Isolate the rewriter: it helped 0 of 10 queries and hurt 7. Read as a ranking problem — incomplete.</a:t>
            </a:r>
            <a:endParaRPr lang="en-US" sz="1250" dirty="0"/>
          </a:p>
        </p:txBody>
      </p:sp>
      <p:sp>
        <p:nvSpPr>
          <p:cNvPr id="10" name="Text 8"/>
          <p:cNvSpPr txBox="1"/>
          <p:nvPr/>
        </p:nvSpPr>
        <p:spPr>
          <a:xfrm>
            <a:off x="8193024" y="1828800"/>
            <a:ext cx="914400" cy="41148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F3</a:t>
            </a:r>
            <a:endParaRPr lang="en-US" sz="2400" dirty="0"/>
          </a:p>
        </p:txBody>
      </p:sp>
      <p:sp>
        <p:nvSpPr>
          <p:cNvPr id="11" name="Text 9"/>
          <p:cNvSpPr txBox="1"/>
          <p:nvPr/>
        </p:nvSpPr>
        <p:spPr>
          <a:xfrm>
            <a:off x="8193024" y="2286000"/>
            <a:ext cx="33832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Ranking is not enough</a:t>
            </a:r>
            <a:endParaRPr lang="en-US" sz="1600" dirty="0"/>
          </a:p>
        </p:txBody>
      </p:sp>
      <p:sp>
        <p:nvSpPr>
          <p:cNvPr id="12" name="Text 10"/>
          <p:cNvSpPr txBox="1"/>
          <p:nvPr/>
        </p:nvSpPr>
        <p:spPr>
          <a:xfrm>
            <a:off x="8193024" y="2633472"/>
            <a:ext cx="3383280" cy="109728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none 0.145 → bm25 0.212 → embed 0.188; MRR climbs 0.250 → 0.625 but the gap will not close.</a:t>
            </a:r>
            <a:endParaRPr lang="en-US" sz="1250" dirty="0"/>
          </a:p>
        </p:txBody>
      </p:sp>
      <p:sp>
        <p:nvSpPr>
          <p:cNvPr id="13" name="Text 11"/>
          <p:cNvSpPr txBox="1"/>
          <p:nvPr/>
        </p:nvSpPr>
        <p:spPr>
          <a:xfrm>
            <a:off x="640080" y="3931920"/>
            <a:ext cx="914400" cy="41148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F4</a:t>
            </a:r>
            <a:endParaRPr lang="en-US" sz="2400" dirty="0"/>
          </a:p>
        </p:txBody>
      </p:sp>
      <p:sp>
        <p:nvSpPr>
          <p:cNvPr id="14" name="Text 12"/>
          <p:cNvSpPr txBox="1"/>
          <p:nvPr/>
        </p:nvSpPr>
        <p:spPr>
          <a:xfrm>
            <a:off x="640080" y="4389120"/>
            <a:ext cx="33832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real cause</a:t>
            </a:r>
            <a:endParaRPr lang="en-US" sz="1600" dirty="0"/>
          </a:p>
        </p:txBody>
      </p:sp>
      <p:sp>
        <p:nvSpPr>
          <p:cNvPr id="15" name="Text 13"/>
          <p:cNvSpPr txBox="1"/>
          <p:nvPr/>
        </p:nvSpPr>
        <p:spPr>
          <a:xfrm>
            <a:off x="640080" y="4736592"/>
            <a:ext cx="3383280" cy="109728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22 of 23 relevant documents were never fetched. The rewrite replaced the query at every endpoint.</a:t>
            </a:r>
            <a:endParaRPr lang="en-US" sz="1250" dirty="0"/>
          </a:p>
        </p:txBody>
      </p:sp>
      <p:sp>
        <p:nvSpPr>
          <p:cNvPr id="16" name="Text 14"/>
          <p:cNvSpPr txBox="1"/>
          <p:nvPr/>
        </p:nvSpPr>
        <p:spPr>
          <a:xfrm>
            <a:off x="4416552" y="3931920"/>
            <a:ext cx="914400" cy="41148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F5</a:t>
            </a:r>
            <a:endParaRPr lang="en-US" sz="2400" dirty="0"/>
          </a:p>
        </p:txBody>
      </p:sp>
      <p:sp>
        <p:nvSpPr>
          <p:cNvPr id="17" name="Text 15"/>
          <p:cNvSpPr txBox="1"/>
          <p:nvPr/>
        </p:nvSpPr>
        <p:spPr>
          <a:xfrm>
            <a:off x="4416552" y="4389120"/>
            <a:ext cx="33832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Fixed, and it is parity</a:t>
            </a:r>
            <a:endParaRPr lang="en-US" sz="1600" dirty="0"/>
          </a:p>
        </p:txBody>
      </p:sp>
      <p:sp>
        <p:nvSpPr>
          <p:cNvPr id="18" name="Text 16"/>
          <p:cNvSpPr txBox="1"/>
          <p:nvPr/>
        </p:nvSpPr>
        <p:spPr>
          <a:xfrm>
            <a:off x="4416552" y="4736592"/>
            <a:ext cx="3383280" cy="109728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Union fetch: nDCG@3 0.188 → 0.765, MRR 1.000. Level with the baseline at ~2× latency.</a:t>
            </a:r>
            <a:endParaRPr lang="en-US" sz="1250" dirty="0"/>
          </a:p>
        </p:txBody>
      </p:sp>
      <p:sp>
        <p:nvSpPr>
          <p:cNvPr id="19" name="Text 17"/>
          <p:cNvSpPr txBox="1"/>
          <p:nvPr/>
        </p:nvSpPr>
        <p:spPr>
          <a:xfrm>
            <a:off x="8193024" y="3931920"/>
            <a:ext cx="914400" cy="41148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F6</a:t>
            </a:r>
            <a:endParaRPr lang="en-US" sz="2400" dirty="0"/>
          </a:p>
        </p:txBody>
      </p:sp>
      <p:sp>
        <p:nvSpPr>
          <p:cNvPr id="20" name="Text 18"/>
          <p:cNvSpPr txBox="1"/>
          <p:nvPr/>
        </p:nvSpPr>
        <p:spPr>
          <a:xfrm>
            <a:off x="8193024" y="4389120"/>
            <a:ext cx="33832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Settled at n=300</a:t>
            </a:r>
            <a:endParaRPr lang="en-US" sz="1600" dirty="0"/>
          </a:p>
        </p:txBody>
      </p:sp>
      <p:sp>
        <p:nvSpPr>
          <p:cNvPr id="21" name="Text 19"/>
          <p:cNvSpPr txBox="1"/>
          <p:nvPr/>
        </p:nvSpPr>
        <p:spPr>
          <a:xfrm>
            <a:off x="8193024" y="4736592"/>
            <a:ext cx="3383280" cy="109728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retrieval metric null; the faithfulness gap is entirely answer format.</a:t>
            </a:r>
            <a:endParaRPr lang="en-US" sz="1250" dirty="0"/>
          </a:p>
        </p:txBody>
      </p:sp>
      <p:sp>
        <p:nvSpPr>
          <p:cNvPr id="22" name="Text 20"/>
          <p:cNvSpPr txBox="1"/>
          <p:nvPr/>
        </p:nvSpPr>
        <p:spPr>
          <a:xfrm>
            <a:off x="640080" y="6172200"/>
            <a:ext cx="10911535"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The superseded diagnosis (F2) is kept in FINDINGS.md on purpose — the sequence is the evidence that the final cause was isolated rather than guessed.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fix, and how much each half of it mattered</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n = 10 ground-truth set. Note which lever actually moves the number</a:t>
            </a:r>
            <a:endParaRPr lang="en-US" sz="1400" dirty="0"/>
          </a:p>
        </p:txBody>
      </p:sp>
      <p:graphicFrame>
        <p:nvGraphicFramePr>
          <p:cNvPr id="4" name="Chart 0" descr=""/>
          <p:cNvGraphicFramePr/>
          <p:nvPr/>
        </p:nvGraphicFramePr>
        <p:xfrm>
          <a:off x="640080" y="1828800"/>
          <a:ext cx="640080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406640" y="1874520"/>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Union fetch is the lever</a:t>
            </a:r>
            <a:endParaRPr lang="en-US" sz="1400" dirty="0"/>
          </a:p>
        </p:txBody>
      </p:sp>
      <p:sp>
        <p:nvSpPr>
          <p:cNvPr id="6" name="Text 3"/>
          <p:cNvSpPr txBox="1"/>
          <p:nvPr/>
        </p:nvSpPr>
        <p:spPr>
          <a:xfrm>
            <a:off x="7406640" y="2203704"/>
            <a:ext cx="4114800" cy="86868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Once both phrasings are retrieved, even the original substring boost reaches 0.597. Ranking against the original question adds 0.024 on top — not established at this n.</a:t>
            </a:r>
            <a:endParaRPr lang="en-US" sz="1150" dirty="0"/>
          </a:p>
        </p:txBody>
      </p:sp>
      <p:sp>
        <p:nvSpPr>
          <p:cNvPr id="7" name="Text 4"/>
          <p:cNvSpPr txBox="1"/>
          <p:nvPr/>
        </p:nvSpPr>
        <p:spPr>
          <a:xfrm>
            <a:off x="7406640" y="3154680"/>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reranking work came first and matters least</a:t>
            </a:r>
            <a:endParaRPr lang="en-US" sz="1400" dirty="0"/>
          </a:p>
        </p:txBody>
      </p:sp>
      <p:sp>
        <p:nvSpPr>
          <p:cNvPr id="8" name="Text 5"/>
          <p:cNvSpPr txBox="1"/>
          <p:nvPr/>
        </p:nvSpPr>
        <p:spPr>
          <a:xfrm>
            <a:off x="7406640" y="3483864"/>
            <a:ext cx="4114800" cy="86868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Adopt the union first. This ordering is stated in the paper because it is the transferable lesson, and it is the opposite of the order we did the work in.</a:t>
            </a:r>
            <a:endParaRPr lang="en-US" sz="1150" dirty="0"/>
          </a:p>
        </p:txBody>
      </p:sp>
      <p:sp>
        <p:nvSpPr>
          <p:cNvPr id="9" name="Text 6"/>
          <p:cNvSpPr txBox="1"/>
          <p:nvPr/>
        </p:nvSpPr>
        <p:spPr>
          <a:xfrm>
            <a:off x="7406640" y="4434840"/>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baseline is untouched by the change</a:t>
            </a:r>
            <a:endParaRPr lang="en-US" sz="1400" dirty="0"/>
          </a:p>
        </p:txBody>
      </p:sp>
      <p:sp>
        <p:nvSpPr>
          <p:cNvPr id="10" name="Text 7"/>
          <p:cNvSpPr txBox="1"/>
          <p:nvPr/>
        </p:nvSpPr>
        <p:spPr>
          <a:xfrm>
            <a:off x="7406640" y="4764024"/>
            <a:ext cx="4114800" cy="86868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single_agent passes the same string as original and rewritten, so the union collapses to one search — making this a clean before/after for the multi-agent arm alone.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headline run: n = 300, three arms</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run_1788302755_7cdc5685d75a · paired Wilcoxon vs single_agent, Holm-corrected · synthesis model held constant</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1737360"/>
                <a:gridCol w="1920240"/>
                <a:gridCol w="2011680"/>
                <a:gridCol w="2862072"/>
              </a:tblGrid>
              <a:tr h="40233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Metric</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marag Δ</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marag_llm Δ</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 (Holm)</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 / T / L (marag)</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r>
              <a:tr h="402336">
                <a:tc>
                  <a:txBody>
                    <a:bodyPr/>
                    <a:lstStyle/>
                    <a:p>
                      <a:pPr algn="l" indent="0" marL="0">
                        <a:buNone/>
                      </a:pPr>
                      <a:r>
                        <a:rPr lang="en-US" sz="1250" dirty="0">
                          <a:solidFill>
                            <a:srgbClr val="1A1A1A"/>
                          </a:solidFill>
                          <a:latin typeface="Calibri" pitchFamily="34" charset="0"/>
                          <a:ea typeface="Calibri" pitchFamily="34" charset="-122"/>
                          <a:cs typeface="Calibri" pitchFamily="34" charset="-120"/>
                        </a:rPr>
                        <a:t>nDCG@3</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+0.009</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+0.006</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0.302</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16 / 269 / 15</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1A1A1A"/>
                          </a:solidFill>
                          <a:latin typeface="Calibri" pitchFamily="34" charset="0"/>
                          <a:ea typeface="Calibri" pitchFamily="34" charset="-122"/>
                          <a:cs typeface="Calibri" pitchFamily="34" charset="-120"/>
                        </a:rPr>
                        <a:t>nDCG@5</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+0.001</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−0.002</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1.000</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20 / 250 / 30</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02336">
                <a:tc>
                  <a:txBody>
                    <a:bodyPr/>
                    <a:lstStyle/>
                    <a:p>
                      <a:pPr algn="l" indent="0" marL="0">
                        <a:buNone/>
                      </a:pPr>
                      <a:r>
                        <a:rPr lang="en-US" sz="1250" dirty="0">
                          <a:solidFill>
                            <a:srgbClr val="1A1A1A"/>
                          </a:solidFill>
                          <a:latin typeface="Calibri" pitchFamily="34" charset="0"/>
                          <a:ea typeface="Calibri" pitchFamily="34" charset="-122"/>
                          <a:cs typeface="Calibri" pitchFamily="34" charset="-120"/>
                        </a:rPr>
                        <a:t>Recall@5</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−0.011</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−0.013</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0.502</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12 / 267 / 21</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1A1A1A"/>
                          </a:solidFill>
                          <a:latin typeface="Calibri" pitchFamily="34" charset="0"/>
                          <a:ea typeface="Calibri" pitchFamily="34" charset="-122"/>
                          <a:cs typeface="Calibri" pitchFamily="34" charset="-120"/>
                        </a:rPr>
                        <a:t>MRR</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+0.006</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+0.006</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0.667</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4 / 290 / 6</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02336">
                <a:tc>
                  <a:txBody>
                    <a:bodyPr/>
                    <a:lstStyle/>
                    <a:p>
                      <a:pPr algn="l" indent="0" marL="0">
                        <a:buNone/>
                      </a:pPr>
                      <a:r>
                        <a:rPr lang="en-US" sz="1250" dirty="0">
                          <a:solidFill>
                            <a:srgbClr val="1A1A1A"/>
                          </a:solidFill>
                          <a:latin typeface="Calibri" pitchFamily="34" charset="0"/>
                          <a:ea typeface="Calibri" pitchFamily="34" charset="-122"/>
                          <a:cs typeface="Calibri" pitchFamily="34" charset="-120"/>
                        </a:rPr>
                        <a:t>Answer relevance</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+0.011</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0.477</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A1A1A"/>
                          </a:solidFill>
                          <a:latin typeface="Calibri" pitchFamily="34" charset="0"/>
                          <a:ea typeface="Calibri" pitchFamily="34" charset="-122"/>
                          <a:cs typeface="Calibri" pitchFamily="34" charset="-120"/>
                        </a:rPr>
                        <a:t>22 / 259 / 19</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02336">
                <a:tc>
                  <a:txBody>
                    <a:bodyPr/>
                    <a:lstStyle/>
                    <a:p>
                      <a:pPr algn="l" indent="0" marL="0">
                        <a:buNone/>
                      </a:pPr>
                      <a:r>
                        <a:rPr lang="en-US" sz="1250" b="1" dirty="0">
                          <a:solidFill>
                            <a:srgbClr val="C1443C"/>
                          </a:solidFill>
                          <a:latin typeface="Calibri" pitchFamily="34" charset="0"/>
                          <a:ea typeface="Calibri" pitchFamily="34" charset="-122"/>
                          <a:cs typeface="Calibri" pitchFamily="34" charset="-120"/>
                        </a:rPr>
                        <a:t>Faithfulness</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b="1" dirty="0">
                          <a:solidFill>
                            <a:srgbClr val="C1443C"/>
                          </a:solidFill>
                          <a:latin typeface="Calibri" pitchFamily="34" charset="0"/>
                          <a:ea typeface="Calibri" pitchFamily="34" charset="-122"/>
                          <a:cs typeface="Calibri" pitchFamily="34" charset="-120"/>
                        </a:rPr>
                        <a:t>−0.196</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b="1" dirty="0">
                          <a:solidFill>
                            <a:srgbClr val="C1443C"/>
                          </a:solidFill>
                          <a:latin typeface="Calibri" pitchFamily="34" charset="0"/>
                          <a:ea typeface="Calibri" pitchFamily="34" charset="-122"/>
                          <a:cs typeface="Calibri" pitchFamily="34" charset="-120"/>
                        </a:rPr>
                        <a:t>+0.002</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b="1" dirty="0">
                          <a:solidFill>
                            <a:srgbClr val="C1443C"/>
                          </a:solidFill>
                          <a:latin typeface="Calibri" pitchFamily="34" charset="0"/>
                          <a:ea typeface="Calibri" pitchFamily="34" charset="-122"/>
                          <a:cs typeface="Calibri" pitchFamily="34" charset="-120"/>
                        </a:rPr>
                        <a:t>&lt;0.001 / 0.787</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50" b="1" dirty="0">
                          <a:solidFill>
                            <a:srgbClr val="C1443C"/>
                          </a:solidFill>
                          <a:latin typeface="Calibri" pitchFamily="34" charset="0"/>
                          <a:ea typeface="Calibri" pitchFamily="34" charset="-122"/>
                          <a:cs typeface="Calibri" pitchFamily="34" charset="-120"/>
                        </a:rPr>
                        <a:t>33 / 50 / 217</a:t>
                      </a:r>
                      <a:endParaRPr lang="en-US" sz="12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bl>
          </a:graphicData>
        </a:graphic>
      </p:graphicFrame>
      <p:sp>
        <p:nvSpPr>
          <p:cNvPr id="5" name="Shape 2"/>
          <p:cNvSpPr/>
          <p:nvPr/>
        </p:nvSpPr>
        <p:spPr>
          <a:xfrm>
            <a:off x="640080" y="4892040"/>
            <a:ext cx="5532120" cy="1188720"/>
          </a:xfrm>
          <a:prstGeom prst="roundRect">
            <a:avLst>
              <a:gd name="adj" fmla="val 6154"/>
            </a:avLst>
          </a:prstGeom>
          <a:solidFill>
            <a:srgbClr val="F4F7FB"/>
          </a:solidFill>
          <a:ln w="12700">
            <a:solidFill>
              <a:srgbClr val="DDE3EC"/>
            </a:solidFill>
            <a:prstDash val="solid"/>
          </a:ln>
        </p:spPr>
      </p:sp>
      <p:sp>
        <p:nvSpPr>
          <p:cNvPr id="6" name="Text 3"/>
          <p:cNvSpPr txBox="1"/>
          <p:nvPr/>
        </p:nvSpPr>
        <p:spPr>
          <a:xfrm>
            <a:off x="914400" y="5029200"/>
            <a:ext cx="502920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Not a discrimination failure</a:t>
            </a:r>
            <a:endParaRPr lang="en-US" sz="1400" dirty="0"/>
          </a:p>
        </p:txBody>
      </p:sp>
      <p:sp>
        <p:nvSpPr>
          <p:cNvPr id="7" name="Text 4"/>
          <p:cNvSpPr txBox="1"/>
          <p:nvPr/>
        </p:nvSpPr>
        <p:spPr>
          <a:xfrm>
            <a:off x="914400" y="5330952"/>
            <a:ext cx="5029200" cy="68580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Only 33.3% of questions return an identical top-k list; 65.0% retrieve materially different documents; marag's mean pool is 23.1 against 15.5. The extra retrieval is real and it is inert.</a:t>
            </a:r>
            <a:endParaRPr lang="en-US" sz="1200" dirty="0"/>
          </a:p>
        </p:txBody>
      </p:sp>
      <p:sp>
        <p:nvSpPr>
          <p:cNvPr id="8" name="Shape 5"/>
          <p:cNvSpPr/>
          <p:nvPr/>
        </p:nvSpPr>
        <p:spPr>
          <a:xfrm>
            <a:off x="6400800" y="4892040"/>
            <a:ext cx="5148072" cy="1188720"/>
          </a:xfrm>
          <a:prstGeom prst="roundRect">
            <a:avLst>
              <a:gd name="adj" fmla="val 6154"/>
            </a:avLst>
          </a:prstGeom>
          <a:solidFill>
            <a:srgbClr val="F4F7FB"/>
          </a:solidFill>
          <a:ln w="12700">
            <a:solidFill>
              <a:srgbClr val="DDE3EC"/>
            </a:solidFill>
            <a:prstDash val="solid"/>
          </a:ln>
        </p:spPr>
      </p:sp>
      <p:sp>
        <p:nvSpPr>
          <p:cNvPr id="9" name="Text 6"/>
          <p:cNvSpPr txBox="1"/>
          <p:nvPr/>
        </p:nvSpPr>
        <p:spPr>
          <a:xfrm>
            <a:off x="6675120" y="5029200"/>
            <a:ext cx="466344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faithfulness gap is format, not grounding</a:t>
            </a:r>
            <a:endParaRPr lang="en-US" sz="1400" dirty="0"/>
          </a:p>
        </p:txBody>
      </p:sp>
      <p:sp>
        <p:nvSpPr>
          <p:cNvPr id="10" name="Text 7"/>
          <p:cNvSpPr txBox="1"/>
          <p:nvPr/>
        </p:nvSpPr>
        <p:spPr>
          <a:xfrm>
            <a:off x="6675120" y="5330952"/>
            <a:ext cx="4663440" cy="68580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The template arm loses 0.196 on 217 of 300 questions. The same retrieval rendered as prose by the same model is indistinguishable from the baseline.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Separating grounding from coordination</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The frozen ladder — run_1788422938_67177cd53aab, 100 questions, 8 arms, byte-identical documents on every arm</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017520"/>
                <a:gridCol w="1737360"/>
                <a:gridCol w="1554480"/>
                <a:gridCol w="2103120"/>
                <a:gridCol w="2496312"/>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Comparison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 Δ</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Better / worse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r>
              <a:tr h="365760">
                <a:tc>
                  <a:txBody>
                    <a:bodyPr/>
                    <a:lstStyle/>
                    <a:p>
                      <a:pPr algn="l" indent="0" marL="0">
                        <a:buNone/>
                      </a:pPr>
                      <a:r>
                        <a:rPr lang="en-US" sz="1200" b="1" dirty="0">
                          <a:solidFill>
                            <a:srgbClr val="6B7F3E"/>
                          </a:solidFill>
                          <a:latin typeface="Calibri" pitchFamily="34" charset="0"/>
                          <a:ea typeface="Calibri" pitchFamily="34" charset="-122"/>
                          <a:cs typeface="Calibri" pitchFamily="34" charset="-120"/>
                        </a:rPr>
                        <a:t>A1 → A1g   grounding</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nDCG@3</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6B7F3E"/>
                          </a:solidFill>
                          <a:latin typeface="Calibri" pitchFamily="34" charset="0"/>
                          <a:ea typeface="Calibri" pitchFamily="34" charset="-122"/>
                          <a:cs typeface="Calibri" pitchFamily="34" charset="-120"/>
                        </a:rPr>
                        <a:t>+0.049</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14 / 5</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6B7F3E"/>
                          </a:solidFill>
                          <a:latin typeface="Calibri" pitchFamily="34" charset="0"/>
                          <a:ea typeface="Calibri" pitchFamily="34" charset="-122"/>
                          <a:cs typeface="Calibri" pitchFamily="34" charset="-120"/>
                        </a:rPr>
                        <a:t>0.0070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6B7F3E"/>
                          </a:solidFill>
                          <a:latin typeface="Calibri" pitchFamily="34" charset="0"/>
                          <a:ea typeface="Calibri" pitchFamily="34" charset="-122"/>
                          <a:cs typeface="Calibri" pitchFamily="34" charset="-120"/>
                        </a:rPr>
                        <a:t>A1 → A1g   grounding</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Recall@3</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6B7F3E"/>
                          </a:solidFill>
                          <a:latin typeface="Calibri" pitchFamily="34" charset="0"/>
                          <a:ea typeface="Calibri" pitchFamily="34" charset="-122"/>
                          <a:cs typeface="Calibri" pitchFamily="34" charset="-120"/>
                        </a:rPr>
                        <a:t>+0.051</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 / 4</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6B7F3E"/>
                          </a:solidFill>
                          <a:latin typeface="Calibri" pitchFamily="34" charset="0"/>
                          <a:ea typeface="Calibri" pitchFamily="34" charset="-122"/>
                          <a:cs typeface="Calibri" pitchFamily="34" charset="-120"/>
                        </a:rPr>
                        <a:t>0.0035</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365760">
                <a:tc>
                  <a:txBody>
                    <a:bodyPr/>
                    <a:lstStyle/>
                    <a:p>
                      <a:pPr algn="l" indent="0" marL="0">
                        <a:buNone/>
                      </a:pPr>
                      <a:r>
                        <a:rPr lang="en-US" sz="1200" dirty="0">
                          <a:solidFill>
                            <a:srgbClr val="6B7F3E"/>
                          </a:solidFill>
                          <a:latin typeface="Calibri" pitchFamily="34" charset="0"/>
                          <a:ea typeface="Calibri" pitchFamily="34" charset="-122"/>
                          <a:cs typeface="Calibri" pitchFamily="34" charset="-120"/>
                        </a:rPr>
                        <a:t>A1 → A1g   grounding</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nDCG@5</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F3E"/>
                          </a:solidFill>
                          <a:latin typeface="Calibri" pitchFamily="34" charset="0"/>
                          <a:ea typeface="Calibri" pitchFamily="34" charset="-122"/>
                          <a:cs typeface="Calibri" pitchFamily="34" charset="-120"/>
                        </a:rPr>
                        <a:t>+0.042</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 / 9</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F3E"/>
                          </a:solidFill>
                          <a:latin typeface="Calibri" pitchFamily="34" charset="0"/>
                          <a:ea typeface="Calibri" pitchFamily="34" charset="-122"/>
                          <a:cs typeface="Calibri" pitchFamily="34" charset="-120"/>
                        </a:rPr>
                        <a:t>0.0268</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A1 → A3   coordination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nDCG@5</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+0.018</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 / 10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0.8721</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36576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A1 → A3   coordination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Recall@5</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+0.007</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6 / 8</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1.0000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A1g vs A3</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nDCG@5</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−0.024</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 / 20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0.2172</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bl>
          </a:graphicData>
        </a:graphic>
      </p:graphicFrame>
      <p:sp>
        <p:nvSpPr>
          <p:cNvPr id="5" name="Text 2"/>
          <p:cNvSpPr txBox="1"/>
          <p:nvPr/>
        </p:nvSpPr>
        <p:spPr>
          <a:xfrm>
            <a:off x="640080" y="4251960"/>
            <a:ext cx="3520440" cy="5486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A2 is why A3 looks like progress</a:t>
            </a:r>
            <a:endParaRPr lang="en-US" sz="1350" dirty="0"/>
          </a:p>
        </p:txBody>
      </p:sp>
      <p:sp>
        <p:nvSpPr>
          <p:cNvPr id="6" name="Text 3"/>
          <p:cNvSpPr txBox="1"/>
          <p:nvPr/>
        </p:nvSpPr>
        <p:spPr>
          <a:xfrm>
            <a:off x="640080" y="4617720"/>
            <a:ext cx="3520440" cy="128016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rewrite_only scores nDCG@5 0.231 against the baseline's 0.742; adding union fetch returns it to 0.761. Union fetch repairs the damage rewriting does — omit A2 and that is hidden.</a:t>
            </a:r>
            <a:endParaRPr lang="en-US" sz="1150" dirty="0"/>
          </a:p>
        </p:txBody>
      </p:sp>
      <p:sp>
        <p:nvSpPr>
          <p:cNvPr id="7" name="Text 4"/>
          <p:cNvSpPr txBox="1"/>
          <p:nvPr/>
        </p:nvSpPr>
        <p:spPr>
          <a:xfrm>
            <a:off x="4416552" y="4251960"/>
            <a:ext cx="3520440" cy="5486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A4 had no opportunity to act</a:t>
            </a:r>
            <a:endParaRPr lang="en-US" sz="1350" dirty="0"/>
          </a:p>
        </p:txBody>
      </p:sp>
      <p:sp>
        <p:nvSpPr>
          <p:cNvPr id="8" name="Text 5"/>
          <p:cNvSpPr txBox="1"/>
          <p:nvPr/>
        </p:nvSpPr>
        <p:spPr>
          <a:xfrm>
            <a:off x="4416552" y="4617720"/>
            <a:ext cx="3520440" cy="128016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marag_llm_retry returned identical documents and answers on 100 of 100 questions. Retry fires below 0.15; the minimum observed was 0.300. Report it as untested, not as ineffective.</a:t>
            </a:r>
            <a:endParaRPr lang="en-US" sz="1150" dirty="0"/>
          </a:p>
        </p:txBody>
      </p:sp>
      <p:sp>
        <p:nvSpPr>
          <p:cNvPr id="9" name="Text 6"/>
          <p:cNvSpPr txBox="1"/>
          <p:nvPr/>
        </p:nvSpPr>
        <p:spPr>
          <a:xfrm>
            <a:off x="8193024" y="4251960"/>
            <a:ext cx="3520440" cy="5486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Template rendering costs ≈0.10 faithfulness</a:t>
            </a:r>
            <a:endParaRPr lang="en-US" sz="1350" dirty="0"/>
          </a:p>
        </p:txBody>
      </p:sp>
      <p:sp>
        <p:nvSpPr>
          <p:cNvPr id="10" name="Text 7"/>
          <p:cNvSpPr txBox="1"/>
          <p:nvPr/>
        </p:nvSpPr>
        <p:spPr>
          <a:xfrm>
            <a:off x="8193024" y="4617720"/>
            <a:ext cx="3520440" cy="128016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In both cells of the 2×2, p &lt; 0.0001. Any template-versus-prose comparison measures this before it measures retrieval.</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top-k sweep: the answer is genuinely two-sided</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Same frozen corpus, embed reranker fixed, k = 4 / 10 / 20 · n = 93 scorable</a:t>
            </a:r>
            <a:endParaRPr lang="en-US" sz="1400" dirty="0"/>
          </a:p>
        </p:txBody>
      </p:sp>
      <p:graphicFrame>
        <p:nvGraphicFramePr>
          <p:cNvPr id="4" name="Chart 0" descr=""/>
          <p:cNvGraphicFramePr/>
          <p:nvPr/>
        </p:nvGraphicFramePr>
        <p:xfrm>
          <a:off x="640080" y="1920240"/>
          <a:ext cx="539496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400800" y="1920240"/>
            <a:ext cx="5120640" cy="32004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It reverses, and both directions clear zero</a:t>
            </a:r>
            <a:endParaRPr lang="en-US" sz="1600" dirty="0"/>
          </a:p>
        </p:txBody>
      </p:sp>
      <p:sp>
        <p:nvSpPr>
          <p:cNvPr id="6" name="Text 3"/>
          <p:cNvSpPr txBox="1"/>
          <p:nvPr/>
        </p:nvSpPr>
        <p:spPr>
          <a:xfrm>
            <a:off x="6400800" y="2286000"/>
            <a:ext cx="5120640" cy="2743200"/>
          </a:xfrm>
          <a:prstGeom prst="rect">
            <a:avLst/>
          </a:prstGeom>
          <a:noFill/>
          <a:ln/>
        </p:spPr>
        <p:txBody>
          <a:bodyPr wrap="square" lIns="0" tIns="0" rIns="0" bIns="0" rtlCol="0" anchor="ctr"/>
          <a:lstStyle/>
          <a:p>
            <a:pPr indent="0" marL="0">
              <a:spcAft>
                <a:spcPts val="1000"/>
              </a:spcAft>
              <a:buNone/>
            </a:pPr>
            <a:r>
              <a:rPr lang="en-US" sz="1250" dirty="0">
                <a:solidFill>
                  <a:srgbClr val="1A1A1A"/>
                </a:solidFill>
                <a:latin typeface="Calibri" pitchFamily="34" charset="0"/>
                <a:ea typeface="Calibri" pitchFamily="34" charset="-122"/>
                <a:cs typeface="Calibri" pitchFamily="34" charset="-120"/>
              </a:rPr>
              <a:t>At k = 10 marag is behind (CI [−0.139, −0.039], p = 0.0007). At k = 20 it is ahead (CI [+0.036, +0.118], p = 0.0006). Both are real signals pointing opposite ways.</a:t>
            </a:r>
            <a:endParaRPr lang="en-US" sz="1250" dirty="0"/>
          </a:p>
          <a:p>
            <a:pPr indent="0" marL="0">
              <a:spcAft>
                <a:spcPts val="1000"/>
              </a:spcAft>
              <a:buNone/>
            </a:pPr>
            <a:r>
              <a:rPr lang="en-US" sz="1250" dirty="0">
                <a:solidFill>
                  <a:srgbClr val="1A1A1A"/>
                </a:solidFill>
                <a:latin typeface="Calibri" pitchFamily="34" charset="0"/>
                <a:ea typeface="Calibri" pitchFamily="34" charset="-122"/>
                <a:cs typeface="Calibri" pitchFamily="34" charset="-120"/>
              </a:rPr>
              <a:t>Mechanism: single_agent converts its smaller pool efficiently at small k (0.806 shipped-per-held vs 0.619). marag's larger pool (pool recall 0.982 vs 0.846) only dominates once given room — by k = 20 conversion is nearly even.</a:t>
            </a:r>
            <a:endParaRPr lang="en-US" sz="1250" dirty="0"/>
          </a:p>
          <a:p>
            <a:pPr indent="0" marL="0">
              <a:buNone/>
            </a:pPr>
            <a:r>
              <a:rPr lang="en-US" sz="1250" dirty="0">
                <a:solidFill>
                  <a:srgbClr val="1A1A1A"/>
                </a:solidFill>
                <a:latin typeface="Calibri" pitchFamily="34" charset="0"/>
                <a:ea typeface="Calibri" pitchFamily="34" charset="-122"/>
                <a:cs typeface="Calibri" pitchFamily="34" charset="-120"/>
              </a:rPr>
              <a:t>A matched-ceiling control confirms this is ranking, not fetch: at k = 10 marag is worse even with an equal pool (p = 0.0005); by k = 20 the gap is not significant (p = 0.10).</a:t>
            </a:r>
            <a:endParaRPr lang="en-US" sz="1250" dirty="0"/>
          </a:p>
        </p:txBody>
      </p:sp>
      <p:sp>
        <p:nvSpPr>
          <p:cNvPr id="7" name="Text 4"/>
          <p:cNvSpPr txBox="1"/>
          <p:nvPr/>
        </p:nvSpPr>
        <p:spPr>
          <a:xfrm>
            <a:off x="6400800" y="5120640"/>
            <a:ext cx="5120640" cy="731520"/>
          </a:xfrm>
          <a:prstGeom prst="rect">
            <a:avLst/>
          </a:prstGeom>
          <a:noFill/>
          <a:ln/>
        </p:spPr>
        <p:txBody>
          <a:bodyPr wrap="square" lIns="0" tIns="0" rIns="0" bIns="0" rtlCol="0" anchor="ctr"/>
          <a:lstStyle/>
          <a:p>
            <a:pPr indent="0" marL="0">
              <a:buNone/>
            </a:pPr>
            <a:r>
              <a:rPr lang="en-US" sz="1300" b="1" i="1" dirty="0">
                <a:solidFill>
                  <a:srgbClr val="1C7293"/>
                </a:solidFill>
                <a:latin typeface="Calibri" pitchFamily="34" charset="0"/>
                <a:ea typeface="Calibri" pitchFamily="34" charset="-122"/>
                <a:cs typeface="Calibri" pitchFamily="34" charset="-120"/>
              </a:rPr>
              <a:t>Neither “the reranker is worse” nor “the config was throttling it” is the whole story. Both are true, at different k — and saying so is the honest reading.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Grounding, seen at the endpoint</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Live pool, 1 September 2026 · “before” is the question as typed; “after” is the same pool through grounding.ground</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2377440"/>
                <a:gridCol w="1463040"/>
                <a:gridCol w="3227832"/>
              </a:tblGrid>
              <a:tr h="53035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Resolved intent</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Rows before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Rows after</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r>
              <a:tr h="530352">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What is the latest Linux version?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release · vendor linux</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1443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6B7F3E"/>
                          </a:solidFill>
                          <a:latin typeface="Calibri" pitchFamily="34" charset="0"/>
                          <a:ea typeface="Calibri" pitchFamily="34" charset="-122"/>
                          <a:cs typeface="Calibri" pitchFamily="34" charset="-120"/>
                        </a:rPr>
                        <a:t>157   (449 advisories excluded)</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530352">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Any critical Linux updates today?</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security · vendor linux</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b="1" dirty="0">
                          <a:solidFill>
                            <a:srgbClr val="C1443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b="1" dirty="0">
                          <a:solidFill>
                            <a:srgbClr val="6B7F3E"/>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530352">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What bugs were fixed in Chrome recently?</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release · vendor chrome</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1443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6B7F3E"/>
                          </a:solidFill>
                          <a:latin typeface="Calibri" pitchFamily="34" charset="0"/>
                          <a:ea typeface="Calibri" pitchFamily="34" charset="-122"/>
                          <a:cs typeface="Calibri" pitchFamily="34" charset="-120"/>
                        </a:rPr>
                        <a:t>559   (22 advisories excluded)</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530352">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Any security vulnerabilities in Python?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security · vendor python</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b="1" dirty="0">
                          <a:solidFill>
                            <a:srgbClr val="C1443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r" indent="0" marL="0">
                        <a:buNone/>
                      </a:pPr>
                      <a:r>
                        <a:rPr lang="en-US" sz="1200" b="1" dirty="0">
                          <a:solidFill>
                            <a:srgbClr val="6B7F3E"/>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bl>
          </a:graphicData>
        </a:graphic>
      </p:graphicFrame>
      <p:sp>
        <p:nvSpPr>
          <p:cNvPr id="5" name="Shape 2"/>
          <p:cNvSpPr/>
          <p:nvPr/>
        </p:nvSpPr>
        <p:spPr>
          <a:xfrm>
            <a:off x="640080" y="4617720"/>
            <a:ext cx="10911535" cy="1371600"/>
          </a:xfrm>
          <a:prstGeom prst="roundRect">
            <a:avLst>
              <a:gd name="adj" fmla="val 5333"/>
            </a:avLst>
          </a:prstGeom>
          <a:solidFill>
            <a:srgbClr val="F4F7FB"/>
          </a:solidFill>
          <a:ln w="12700">
            <a:solidFill>
              <a:srgbClr val="DDE3EC"/>
            </a:solidFill>
            <a:prstDash val="solid"/>
          </a:ln>
        </p:spPr>
      </p:sp>
      <p:sp>
        <p:nvSpPr>
          <p:cNvPr id="6" name="Text 3"/>
          <p:cNvSpPr txBox="1"/>
          <p:nvPr/>
        </p:nvSpPr>
        <p:spPr>
          <a:xfrm>
            <a:off x="914400" y="4773168"/>
            <a:ext cx="105156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Why every “before” row is zero</a:t>
            </a:r>
            <a:endParaRPr lang="en-US" sz="1400" dirty="0"/>
          </a:p>
        </p:txBody>
      </p:sp>
      <p:sp>
        <p:nvSpPr>
          <p:cNvPr id="7" name="Text 4"/>
          <p:cNvSpPr txBox="1"/>
          <p:nvPr/>
        </p:nvSpPr>
        <p:spPr>
          <a:xfrm>
            <a:off x="914400" y="5084064"/>
            <a:ext cx="10515600" cy="86868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The release endpoint matches q against product names, not free text. Measured on 2026-08-31: “Linux” returns 606 releases; “critical Linux updates” returns 0; a date-stamped sentence returns 0. Any sentence-shaped phrasing — the user's, the rewriter's, or a date-grounded one — retrieves nothing. This is the single endpoint behaviour that explains the union fetch, the vendor extractor, and why a date can only rank results after the fetch rather than narrow it before.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paper: what changed, and why</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AgenticSE '26 workshop version → TOSEM special section, submitted 1 September 2026</a:t>
            </a:r>
            <a:endParaRPr lang="en-US" sz="1400" dirty="0"/>
          </a:p>
        </p:txBody>
      </p:sp>
      <p:sp>
        <p:nvSpPr>
          <p:cNvPr id="4" name="Text 2"/>
          <p:cNvSpPr txBox="1"/>
          <p:nvPr/>
        </p:nvSpPr>
        <p:spPr>
          <a:xfrm>
            <a:off x="640080" y="1783080"/>
            <a:ext cx="5212080" cy="320040"/>
          </a:xfrm>
          <a:prstGeom prst="rect">
            <a:avLst/>
          </a:prstGeom>
          <a:noFill/>
          <a:ln/>
        </p:spPr>
        <p:txBody>
          <a:bodyPr wrap="square" lIns="0" tIns="0" rIns="0" bIns="0" rtlCol="0" anchor="ctr"/>
          <a:lstStyle/>
          <a:p>
            <a:pPr indent="0" marL="0">
              <a:buNone/>
            </a:pPr>
            <a:r>
              <a:rPr lang="en-US" sz="1600" b="1" dirty="0">
                <a:solidFill>
                  <a:srgbClr val="9AA7B4"/>
                </a:solidFill>
                <a:latin typeface="Calibri" pitchFamily="34" charset="0"/>
                <a:ea typeface="Calibri" pitchFamily="34" charset="-122"/>
                <a:cs typeface="Calibri" pitchFamily="34" charset="-120"/>
              </a:rPr>
              <a:t>Conference version</a:t>
            </a:r>
            <a:endParaRPr lang="en-US" sz="1600" dirty="0"/>
          </a:p>
        </p:txBody>
      </p:sp>
      <p:sp>
        <p:nvSpPr>
          <p:cNvPr id="5" name="Text 3"/>
          <p:cNvSpPr txBox="1"/>
          <p:nvPr/>
        </p:nvSpPr>
        <p:spPr>
          <a:xfrm>
            <a:off x="640080" y="2194560"/>
            <a:ext cx="5212080" cy="301752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9AA7B4"/>
                </a:solidFill>
                <a:latin typeface="Calibri" pitchFamily="34" charset="0"/>
                <a:ea typeface="Calibri" pitchFamily="34" charset="-122"/>
                <a:cs typeface="Calibri" pitchFamily="34" charset="-120"/>
              </a:rPr>
              <a:t>Framed as an improvement claim: +17.2% retrieval gain, n = 50</a:t>
            </a:r>
            <a:endParaRPr lang="en-US" sz="1250" dirty="0"/>
          </a:p>
          <a:p>
            <a:pPr marL="342900" indent="-342900">
              <a:spcAft>
                <a:spcPts val="1000"/>
              </a:spcAft>
              <a:buSzPct val="100000"/>
              <a:buChar char="•"/>
            </a:pPr>
            <a:r>
              <a:rPr lang="en-US" sz="1250" dirty="0">
                <a:solidFill>
                  <a:srgbClr val="9AA7B4"/>
                </a:solidFill>
                <a:latin typeface="Calibri" pitchFamily="34" charset="0"/>
                <a:ea typeface="Calibri" pitchFamily="34" charset="-122"/>
                <a:cs typeface="Calibri" pitchFamily="34" charset="-120"/>
              </a:rPr>
              <a:t>Scored on a bespoke keyword-overlap “quality” metric</a:t>
            </a:r>
            <a:endParaRPr lang="en-US" sz="1250" dirty="0"/>
          </a:p>
          <a:p>
            <a:pPr marL="342900" indent="-342900">
              <a:spcAft>
                <a:spcPts val="1000"/>
              </a:spcAft>
              <a:buSzPct val="100000"/>
              <a:buChar char="•"/>
            </a:pPr>
            <a:r>
              <a:rPr lang="en-US" sz="1250" dirty="0">
                <a:solidFill>
                  <a:srgbClr val="9AA7B4"/>
                </a:solidFill>
                <a:latin typeface="Calibri" pitchFamily="34" charset="0"/>
                <a:ea typeface="Calibri" pitchFamily="34" charset="-122"/>
                <a:cs typeface="Calibri" pitchFamily="34" charset="-120"/>
              </a:rPr>
              <a:t>+9.3% self-improvement, d = 0.83, reported without the drift caveat</a:t>
            </a:r>
            <a:endParaRPr lang="en-US" sz="1250" dirty="0"/>
          </a:p>
          <a:p>
            <a:pPr marL="342900" indent="-342900">
              <a:spcAft>
                <a:spcPts val="1000"/>
              </a:spcAft>
              <a:buSzPct val="100000"/>
              <a:buChar char="•"/>
            </a:pPr>
            <a:r>
              <a:rPr lang="en-US" sz="1250" dirty="0">
                <a:solidFill>
                  <a:srgbClr val="9AA7B4"/>
                </a:solidFill>
                <a:latin typeface="Calibri" pitchFamily="34" charset="0"/>
                <a:ea typeface="Calibri" pitchFamily="34" charset="-122"/>
                <a:cs typeface="Calibri" pitchFamily="34" charset="-120"/>
              </a:rPr>
              <a:t>No ablation separating grounding from coordination</a:t>
            </a:r>
            <a:endParaRPr lang="en-US" sz="1250" dirty="0"/>
          </a:p>
          <a:p>
            <a:pPr marL="342900" indent="-342900">
              <a:spcAft>
                <a:spcPts val="1000"/>
              </a:spcAft>
              <a:buSzPct val="100000"/>
              <a:buChar char="•"/>
            </a:pPr>
            <a:r>
              <a:rPr lang="en-US" sz="1250" dirty="0">
                <a:solidFill>
                  <a:srgbClr val="9AA7B4"/>
                </a:solidFill>
                <a:latin typeface="Calibri" pitchFamily="34" charset="0"/>
                <a:ea typeface="Calibri" pitchFamily="34" charset="-122"/>
                <a:cs typeface="Calibri" pitchFamily="34" charset="-120"/>
              </a:rPr>
              <a:t>No frozen corpus, no admissibility criterion</a:t>
            </a:r>
            <a:endParaRPr lang="en-US" sz="1250" dirty="0"/>
          </a:p>
        </p:txBody>
      </p:sp>
      <p:sp>
        <p:nvSpPr>
          <p:cNvPr id="6" name="Text 4"/>
          <p:cNvSpPr txBox="1"/>
          <p:nvPr/>
        </p:nvSpPr>
        <p:spPr>
          <a:xfrm>
            <a:off x="6309360" y="1783080"/>
            <a:ext cx="52120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TOSEM submission</a:t>
            </a:r>
            <a:endParaRPr lang="en-US" sz="1600" dirty="0"/>
          </a:p>
        </p:txBody>
      </p:sp>
      <p:sp>
        <p:nvSpPr>
          <p:cNvPr id="7" name="Text 5"/>
          <p:cNvSpPr txBox="1"/>
          <p:nvPr/>
        </p:nvSpPr>
        <p:spPr>
          <a:xfrm>
            <a:off x="6309360" y="2194560"/>
            <a:ext cx="5212080" cy="301752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CADCFC"/>
                </a:solidFill>
                <a:latin typeface="Calibri" pitchFamily="34" charset="0"/>
                <a:ea typeface="Calibri" pitchFamily="34" charset="-122"/>
                <a:cs typeface="Calibri" pitchFamily="34" charset="-120"/>
              </a:rPr>
              <a:t>Framed as a negative result plus its remedy — the finding is the failure mode</a:t>
            </a:r>
            <a:endParaRPr lang="en-US" sz="1250" dirty="0"/>
          </a:p>
          <a:p>
            <a:pPr marL="342900" indent="-342900">
              <a:spcAft>
                <a:spcPts val="1000"/>
              </a:spcAft>
              <a:buSzPct val="100000"/>
              <a:buChar char="•"/>
            </a:pPr>
            <a:r>
              <a:rPr lang="en-US" sz="1250" dirty="0">
                <a:solidFill>
                  <a:srgbClr val="CADCFC"/>
                </a:solidFill>
                <a:latin typeface="Calibri" pitchFamily="34" charset="0"/>
                <a:ea typeface="Calibri" pitchFamily="34" charset="-122"/>
                <a:cs typeface="Calibri" pitchFamily="34" charset="-120"/>
              </a:rPr>
              <a:t>Standard IR metrics over pooled judged relevance; the bespoke score is reported as superseded</a:t>
            </a:r>
            <a:endParaRPr lang="en-US" sz="1250" dirty="0"/>
          </a:p>
          <a:p>
            <a:pPr marL="342900" indent="-342900">
              <a:spcAft>
                <a:spcPts val="1000"/>
              </a:spcAft>
              <a:buSzPct val="100000"/>
              <a:buChar char="•"/>
            </a:pPr>
            <a:r>
              <a:rPr lang="en-US" sz="1250" dirty="0">
                <a:solidFill>
                  <a:srgbClr val="CADCFC"/>
                </a:solidFill>
                <a:latin typeface="Calibri" pitchFamily="34" charset="0"/>
                <a:ea typeface="Calibri" pitchFamily="34" charset="-122"/>
                <a:cs typeface="Calibri" pitchFamily="34" charset="-120"/>
              </a:rPr>
              <a:t>Self-improvement kept as mechanism-sound, magnitude-unestablished, with the drift confound stated</a:t>
            </a:r>
            <a:endParaRPr lang="en-US" sz="1250" dirty="0"/>
          </a:p>
          <a:p>
            <a:pPr marL="342900" indent="-342900">
              <a:spcAft>
                <a:spcPts val="1000"/>
              </a:spcAft>
              <a:buSzPct val="100000"/>
              <a:buChar char="•"/>
            </a:pPr>
            <a:r>
              <a:rPr lang="en-US" sz="1250" dirty="0">
                <a:solidFill>
                  <a:srgbClr val="CADCFC"/>
                </a:solidFill>
                <a:latin typeface="Calibri" pitchFamily="34" charset="0"/>
                <a:ea typeface="Calibri" pitchFamily="34" charset="-122"/>
                <a:cs typeface="Calibri" pitchFamily="34" charset="-120"/>
              </a:rPr>
              <a:t>Eight-arm frozen ladder; grounding significant, coordination null</a:t>
            </a:r>
            <a:endParaRPr lang="en-US" sz="1250" dirty="0"/>
          </a:p>
          <a:p>
            <a:pPr marL="342900" indent="-342900">
              <a:spcAft>
                <a:spcPts val="1000"/>
              </a:spcAft>
              <a:buSzPct val="100000"/>
              <a:buChar char="•"/>
            </a:pPr>
            <a:r>
              <a:rPr lang="en-US" sz="1250" dirty="0">
                <a:solidFill>
                  <a:srgbClr val="CADCFC"/>
                </a:solidFill>
                <a:latin typeface="Calibri" pitchFamily="34" charset="0"/>
                <a:ea typeface="Calibri" pitchFamily="34" charset="-122"/>
                <a:cs typeface="Calibri" pitchFamily="34" charset="-120"/>
              </a:rPr>
              <a:t>Every number carries a run id; superseded figures named so they are not reintroduced</a:t>
            </a:r>
            <a:endParaRPr lang="en-US" sz="1250" dirty="0"/>
          </a:p>
        </p:txBody>
      </p:sp>
      <p:sp>
        <p:nvSpPr>
          <p:cNvPr id="8" name="Text 6"/>
          <p:cNvSpPr txBox="1"/>
          <p:nvPr/>
        </p:nvSpPr>
        <p:spPr>
          <a:xfrm>
            <a:off x="640080" y="6172200"/>
            <a:ext cx="10911535"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34 pages of the 45 permitted · zero undefined references or citations · builds with tectonic from paper/tosem_amara.tex · figures and fragments committed so the source is self-contained.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What cannot be quoted, and why</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Kept as an explicit register — a number that was once wrong is named, not quietly dropped</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017520"/>
                <a:gridCol w="1920240"/>
                <a:gridCol w="5971032"/>
              </a:tblGrid>
              <a:tr h="49377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Figure or artifact</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Reason</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r>
              <a:tr h="493776">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nDCG@3 = 0.973</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C1443C"/>
                          </a:solidFill>
                          <a:latin typeface="Calibri" pitchFamily="34" charset="0"/>
                          <a:ea typeface="Calibri" pitchFamily="34" charset="-122"/>
                          <a:cs typeface="Calibri" pitchFamily="34" charset="-120"/>
                        </a:rPr>
                        <a:t>Void</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Pre-qrels-cache-keyfix artifact. Post-fix and reproducibly, 0.765.</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93776">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Scaled tables at n = 96</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b="1" dirty="0">
                          <a:solidFill>
                            <a:srgbClr val="C1443C"/>
                          </a:solidFill>
                          <a:latin typeface="Calibri" pitchFamily="34" charset="0"/>
                          <a:ea typeface="Calibri" pitchFamily="34" charset="-122"/>
                          <a:cs typeface="Calibri" pitchFamily="34" charset="-120"/>
                        </a:rPr>
                        <a:t>Void</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 stalled run; it has since completed at n = 100.</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93776">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Retrieval numbers before ed206a2</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C1443C"/>
                          </a:solidFill>
                          <a:latin typeface="Calibri" pitchFamily="34" charset="0"/>
                          <a:ea typeface="Calibri" pitchFamily="34" charset="-122"/>
                          <a:cs typeface="Calibri" pitchFamily="34" charset="-120"/>
                        </a:rPr>
                        <a:t>Void</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fetch_vendor_releases truncated before the canonical sort, so shipped releases were unreachable.</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93776">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Mean latencies from the n=300 run</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b="1" dirty="0">
                          <a:solidFill>
                            <a:srgbClr val="C1443C"/>
                          </a:solidFill>
                          <a:latin typeface="Calibri" pitchFamily="34" charset="0"/>
                          <a:ea typeface="Calibri" pitchFamily="34" charset="-122"/>
                          <a:cs typeface="Calibri" pitchFamily="34" charset="-120"/>
                        </a:rPr>
                        <a:t>Do not use</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Two questions recorded 1,000–5,200 s on every arm — a host stall. Use the medians: 20.3 / 26.3 / 8.8 s.</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93776">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corpus_snapshot_b100_clean</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C1443C"/>
                          </a:solidFill>
                          <a:latin typeface="Calibri" pitchFamily="34" charset="0"/>
                          <a:ea typeface="Calibri" pitchFamily="34" charset="-122"/>
                          <a:cs typeface="Calibri" pitchFamily="34" charset="-120"/>
                        </a:rPr>
                        <a:t>Not frozen</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Warm replays backfilled it across two sessions. Each ablation now gets its own directory.</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93776">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+9.3% self-improvement</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b="1" dirty="0">
                          <a:solidFill>
                            <a:srgbClr val="5C6470"/>
                          </a:solidFill>
                          <a:latin typeface="Calibri" pitchFamily="34" charset="0"/>
                          <a:ea typeface="Calibri" pitchFamily="34" charset="-122"/>
                          <a:cs typeface="Calibri" pitchFamily="34" charset="-120"/>
                        </a:rPr>
                        <a:t>Caveated</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Time-ordered tertiles against a drifting live corpus — adaptation is not separable from drift.</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93776">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Judge independence</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5C6470"/>
                          </a:solidFill>
                          <a:latin typeface="Calibri" pitchFamily="34" charset="0"/>
                          <a:ea typeface="Calibri" pitchFamily="34" charset="-122"/>
                          <a:cs typeface="Calibri" pitchFamily="34" charset="-120"/>
                        </a:rPr>
                        <a:t>Open threat</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llama3.1 judges a pipeline whose rewriter and one arm are llama3.1. Phase 4, blocked.</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911535" cy="320040"/>
          </a:xfrm>
          <a:prstGeom prst="rect">
            <a:avLst/>
          </a:prstGeom>
          <a:noFill/>
          <a:ln/>
        </p:spPr>
        <p:txBody>
          <a:bodyPr wrap="square" lIns="0" tIns="0" rIns="0" bIns="0" rtlCol="0" anchor="ctr"/>
          <a:lstStyle/>
          <a:p>
            <a:pPr indent="0" marL="0">
              <a:buNone/>
            </a:pPr>
            <a:r>
              <a:rPr lang="en-US" sz="1100" dirty="0">
                <a:solidFill>
                  <a:srgbClr val="5C6470"/>
                </a:solidFill>
                <a:latin typeface="Calibri" pitchFamily="34" charset="0"/>
                <a:ea typeface="Calibri" pitchFamily="34" charset="-122"/>
                <a:cs typeface="Calibri" pitchFamily="34" charset="-120"/>
              </a:rPr>
              <a:t>This register is the reason the project's numbers can be trusted: it is cheaper to maintain than a retraction, and it is what an artifact reviewer will look for first.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What is shipped, not just measured</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Section 5 definition of done: in the required location, running from a clean clone</a:t>
            </a:r>
            <a:endParaRPr lang="en-US" sz="1400" dirty="0"/>
          </a:p>
        </p:txBody>
      </p:sp>
      <p:sp>
        <p:nvSpPr>
          <p:cNvPr id="4" name="Shape 2"/>
          <p:cNvSpPr/>
          <p:nvPr/>
        </p:nvSpPr>
        <p:spPr>
          <a:xfrm>
            <a:off x="640080" y="1783080"/>
            <a:ext cx="3520440" cy="2286000"/>
          </a:xfrm>
          <a:prstGeom prst="roundRect">
            <a:avLst>
              <a:gd name="adj" fmla="val 4000"/>
            </a:avLst>
          </a:prstGeom>
          <a:solidFill>
            <a:srgbClr val="F4F7FB"/>
          </a:solidFill>
          <a:ln w="12700">
            <a:solidFill>
              <a:srgbClr val="DDE3EC"/>
            </a:solidFill>
            <a:prstDash val="solid"/>
          </a:ln>
        </p:spPr>
      </p:sp>
      <p:sp>
        <p:nvSpPr>
          <p:cNvPr id="5" name="Text 3"/>
          <p:cNvSpPr txBox="1"/>
          <p:nvPr/>
        </p:nvSpPr>
        <p:spPr>
          <a:xfrm>
            <a:off x="914400" y="1965960"/>
            <a:ext cx="2971800" cy="73152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629</a:t>
            </a:r>
            <a:endParaRPr lang="en-US" sz="4000" dirty="0"/>
          </a:p>
        </p:txBody>
      </p:sp>
      <p:sp>
        <p:nvSpPr>
          <p:cNvPr id="6" name="Text 4"/>
          <p:cNvSpPr txBox="1"/>
          <p:nvPr/>
        </p:nvSpPr>
        <p:spPr>
          <a:xfrm>
            <a:off x="914400" y="2743200"/>
            <a:ext cx="2971800" cy="27432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offline tests</a:t>
            </a:r>
            <a:endParaRPr lang="en-US" sz="1300" dirty="0"/>
          </a:p>
        </p:txBody>
      </p:sp>
      <p:sp>
        <p:nvSpPr>
          <p:cNvPr id="7" name="Text 5"/>
          <p:cNvSpPr txBox="1"/>
          <p:nvPr/>
        </p:nvSpPr>
        <p:spPr>
          <a:xfrm>
            <a:off x="914400" y="3063240"/>
            <a:ext cx="2971800" cy="86868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No network, no fixed date. Verified today from a fresh clone: pip install from requirements.txt, then 628 passed, 1 skipped.</a:t>
            </a:r>
            <a:endParaRPr lang="en-US" sz="1150" dirty="0"/>
          </a:p>
        </p:txBody>
      </p:sp>
      <p:sp>
        <p:nvSpPr>
          <p:cNvPr id="8" name="Shape 6"/>
          <p:cNvSpPr/>
          <p:nvPr/>
        </p:nvSpPr>
        <p:spPr>
          <a:xfrm>
            <a:off x="4416552" y="1783080"/>
            <a:ext cx="3520440" cy="2286000"/>
          </a:xfrm>
          <a:prstGeom prst="roundRect">
            <a:avLst>
              <a:gd name="adj" fmla="val 4000"/>
            </a:avLst>
          </a:prstGeom>
          <a:solidFill>
            <a:srgbClr val="F4F7FB"/>
          </a:solidFill>
          <a:ln w="12700">
            <a:solidFill>
              <a:srgbClr val="DDE3EC"/>
            </a:solidFill>
            <a:prstDash val="solid"/>
          </a:ln>
        </p:spPr>
      </p:sp>
      <p:sp>
        <p:nvSpPr>
          <p:cNvPr id="9" name="Text 7"/>
          <p:cNvSpPr txBox="1"/>
          <p:nvPr/>
        </p:nvSpPr>
        <p:spPr>
          <a:xfrm>
            <a:off x="4690872" y="1965960"/>
            <a:ext cx="2971800" cy="731520"/>
          </a:xfrm>
          <a:prstGeom prst="rect">
            <a:avLst/>
          </a:prstGeom>
          <a:noFill/>
          <a:ln/>
        </p:spPr>
        <p:txBody>
          <a:bodyPr wrap="square" lIns="0" tIns="0" rIns="0" bIns="0" rtlCol="0" anchor="ctr"/>
          <a:lstStyle/>
          <a:p>
            <a:pPr indent="0" marL="0">
              <a:buNone/>
            </a:pPr>
            <a:r>
              <a:rPr lang="en-US" sz="4000" b="1" dirty="0">
                <a:solidFill>
                  <a:srgbClr val="1C7293"/>
                </a:solidFill>
                <a:latin typeface="Cambria" pitchFamily="34" charset="0"/>
                <a:ea typeface="Cambria" pitchFamily="34" charset="-122"/>
                <a:cs typeface="Cambria" pitchFamily="34" charset="-120"/>
              </a:rPr>
              <a:t>Live</a:t>
            </a:r>
            <a:endParaRPr lang="en-US" sz="4000" dirty="0"/>
          </a:p>
        </p:txBody>
      </p:sp>
      <p:sp>
        <p:nvSpPr>
          <p:cNvPr id="10" name="Text 8"/>
          <p:cNvSpPr txBox="1"/>
          <p:nvPr/>
        </p:nvSpPr>
        <p:spPr>
          <a:xfrm>
            <a:off x="4690872" y="2743200"/>
            <a:ext cx="2971800" cy="27432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public deployment</a:t>
            </a:r>
            <a:endParaRPr lang="en-US" sz="1300" dirty="0"/>
          </a:p>
        </p:txBody>
      </p:sp>
      <p:sp>
        <p:nvSpPr>
          <p:cNvPr id="11" name="Text 9"/>
          <p:cNvSpPr txBox="1"/>
          <p:nvPr/>
        </p:nvSpPr>
        <p:spPr>
          <a:xfrm>
            <a:off x="4690872" y="3063240"/>
            <a:ext cx="2971800" cy="86868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software-update-questions.streamlit.app — re-verified today end to end; degrades to labelled rule-based paths with no model.</a:t>
            </a:r>
            <a:endParaRPr lang="en-US" sz="1150" dirty="0"/>
          </a:p>
        </p:txBody>
      </p:sp>
      <p:sp>
        <p:nvSpPr>
          <p:cNvPr id="12" name="Shape 10"/>
          <p:cNvSpPr/>
          <p:nvPr/>
        </p:nvSpPr>
        <p:spPr>
          <a:xfrm>
            <a:off x="8193024" y="1783080"/>
            <a:ext cx="3520440" cy="2286000"/>
          </a:xfrm>
          <a:prstGeom prst="roundRect">
            <a:avLst>
              <a:gd name="adj" fmla="val 4000"/>
            </a:avLst>
          </a:prstGeom>
          <a:solidFill>
            <a:srgbClr val="F4F7FB"/>
          </a:solidFill>
          <a:ln w="12700">
            <a:solidFill>
              <a:srgbClr val="DDE3EC"/>
            </a:solidFill>
            <a:prstDash val="solid"/>
          </a:ln>
        </p:spPr>
      </p:sp>
      <p:sp>
        <p:nvSpPr>
          <p:cNvPr id="13" name="Text 11"/>
          <p:cNvSpPr txBox="1"/>
          <p:nvPr/>
        </p:nvSpPr>
        <p:spPr>
          <a:xfrm>
            <a:off x="8467344" y="1965960"/>
            <a:ext cx="2971800" cy="731520"/>
          </a:xfrm>
          <a:prstGeom prst="rect">
            <a:avLst/>
          </a:prstGeom>
          <a:noFill/>
          <a:ln/>
        </p:spPr>
        <p:txBody>
          <a:bodyPr wrap="square" lIns="0" tIns="0" rIns="0" bIns="0" rtlCol="0" anchor="ctr"/>
          <a:lstStyle/>
          <a:p>
            <a:pPr indent="0" marL="0">
              <a:buNone/>
            </a:pPr>
            <a:r>
              <a:rPr lang="en-US" sz="4000" b="1" dirty="0">
                <a:solidFill>
                  <a:srgbClr val="6B7F3E"/>
                </a:solidFill>
                <a:latin typeface="Cambria" pitchFamily="34" charset="0"/>
                <a:ea typeface="Cambria" pitchFamily="34" charset="-122"/>
                <a:cs typeface="Cambria" pitchFamily="34" charset="-120"/>
              </a:rPr>
              <a:t>7</a:t>
            </a:r>
            <a:endParaRPr lang="en-US" sz="4000" dirty="0"/>
          </a:p>
        </p:txBody>
      </p:sp>
      <p:sp>
        <p:nvSpPr>
          <p:cNvPr id="14" name="Text 12"/>
          <p:cNvSpPr txBox="1"/>
          <p:nvPr/>
        </p:nvSpPr>
        <p:spPr>
          <a:xfrm>
            <a:off x="8467344" y="2743200"/>
            <a:ext cx="2971800" cy="27432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documentation pages</a:t>
            </a:r>
            <a:endParaRPr lang="en-US" sz="1300" dirty="0"/>
          </a:p>
        </p:txBody>
      </p:sp>
      <p:sp>
        <p:nvSpPr>
          <p:cNvPr id="15" name="Text 13"/>
          <p:cNvSpPr txBox="1"/>
          <p:nvPr/>
        </p:nvSpPr>
        <p:spPr>
          <a:xfrm>
            <a:off x="8467344" y="3063240"/>
            <a:ext cx="2971800" cy="86868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docs/ renders on GitHub in place, so a documentation change is reviewable in a pull request next to the code it describes.</a:t>
            </a:r>
            <a:endParaRPr lang="en-US" sz="11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Also built and unreported, deliberately</a:t>
            </a:r>
            <a:endParaRPr lang="en-US" sz="1500" dirty="0"/>
          </a:p>
        </p:txBody>
      </p:sp>
      <p:sp>
        <p:nvSpPr>
          <p:cNvPr id="17" name="Text 15"/>
          <p:cNvSpPr txBox="1"/>
          <p:nvPr/>
        </p:nvSpPr>
        <p:spPr>
          <a:xfrm>
            <a:off x="640080" y="4709160"/>
            <a:ext cx="10881360" cy="13716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A self-reflective baseline arm — a reimplementation of Self-RAG's per-passage critiques and CRAG's corrective flow over our retrieval, model held constant, 43 tests. Its run was stopped at 8 of 100 questions, so no results are reported and Section 2 of the paper says so explicitly rather than leaving the arm unmentioned.</a:t>
            </a:r>
            <a:endParaRPr lang="en-US" sz="1200" dirty="0"/>
          </a:p>
          <a:p>
            <a:pPr marL="342900" indent="-342900">
              <a:buSzPct val="100000"/>
              <a:buChar char="•"/>
            </a:pPr>
            <a:r>
              <a:rPr lang="en-US" sz="1200" dirty="0">
                <a:solidFill>
                  <a:srgbClr val="1A1A1A"/>
                </a:solidFill>
                <a:latin typeface="Calibri" pitchFamily="34" charset="0"/>
                <a:ea typeface="Calibri" pitchFamily="34" charset="-122"/>
                <a:cs typeface="Calibri" pitchFamily="34" charset="-120"/>
              </a:rPr>
              <a:t>Two ISREL bugs found and fixed by reading the critic against its own comments: relevance critique failed open on a malformed reply, and “not irrelevant” was read as a rejection. Both narrowed the candidate set toward the critic's preferences — the exact circularity the threats section discusses. Pinned by 28 tests.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What comes next</a:t>
            </a:r>
            <a:endParaRPr lang="en-US" sz="3200" dirty="0"/>
          </a:p>
        </p:txBody>
      </p:sp>
      <p:sp>
        <p:nvSpPr>
          <p:cNvPr id="3" name="Text 1"/>
          <p:cNvSpPr txBox="1"/>
          <p:nvPr/>
        </p:nvSpPr>
        <p:spPr>
          <a:xfrm>
            <a:off x="640080" y="1170432"/>
            <a:ext cx="10911535" cy="384048"/>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Syllabus milestones, and the three research items that would change a claim in this deck</a:t>
            </a:r>
            <a:endParaRPr lang="en-US" sz="1400" dirty="0"/>
          </a:p>
        </p:txBody>
      </p:sp>
      <p:sp>
        <p:nvSpPr>
          <p:cNvPr id="4" name="Text 2"/>
          <p:cNvSpPr txBox="1"/>
          <p:nvPr/>
        </p:nvSpPr>
        <p:spPr>
          <a:xfrm>
            <a:off x="640080" y="1737360"/>
            <a:ext cx="5212080"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Blocking or claim-changing</a:t>
            </a:r>
            <a:endParaRPr lang="en-US" sz="1500" dirty="0"/>
          </a:p>
        </p:txBody>
      </p:sp>
      <p:sp>
        <p:nvSpPr>
          <p:cNvPr id="5" name="Shape 3"/>
          <p:cNvSpPr/>
          <p:nvPr/>
        </p:nvSpPr>
        <p:spPr>
          <a:xfrm>
            <a:off x="685800" y="2185416"/>
            <a:ext cx="219456" cy="219456"/>
          </a:xfrm>
          <a:prstGeom prst="ellipse">
            <a:avLst/>
          </a:prstGeom>
          <a:solidFill>
            <a:srgbClr val="C1443C"/>
          </a:solidFill>
          <a:ln w="12700">
            <a:solidFill>
              <a:srgbClr val="C1443C"/>
            </a:solidFill>
            <a:prstDash val="solid"/>
          </a:ln>
        </p:spPr>
      </p:sp>
      <p:sp>
        <p:nvSpPr>
          <p:cNvPr id="6" name="Text 4"/>
          <p:cNvSpPr txBox="1"/>
          <p:nvPr/>
        </p:nvSpPr>
        <p:spPr>
          <a:xfrm>
            <a:off x="1097280" y="2103120"/>
            <a:ext cx="4754880" cy="320040"/>
          </a:xfrm>
          <a:prstGeom prst="rect">
            <a:avLst/>
          </a:prstGeom>
          <a:noFill/>
          <a:ln/>
        </p:spPr>
        <p:txBody>
          <a:bodyPr wrap="square" lIns="0" tIns="0" rIns="0" bIns="0" rtlCol="0" anchor="ctr"/>
          <a:lstStyle/>
          <a:p>
            <a:pPr indent="0" marL="0">
              <a:buNone/>
            </a:pPr>
            <a:r>
              <a:rPr lang="en-US" sz="1350" b="1" dirty="0">
                <a:solidFill>
                  <a:srgbClr val="1A1A1A"/>
                </a:solidFill>
                <a:latin typeface="Calibri" pitchFamily="34" charset="0"/>
                <a:ea typeface="Calibri" pitchFamily="34" charset="-122"/>
                <a:cs typeface="Calibri" pitchFamily="34" charset="-120"/>
              </a:rPr>
              <a:t>Independent judge — blocked since 31 Aug</a:t>
            </a:r>
            <a:endParaRPr lang="en-US" sz="1350" dirty="0"/>
          </a:p>
        </p:txBody>
      </p:sp>
      <p:sp>
        <p:nvSpPr>
          <p:cNvPr id="7" name="Text 5"/>
          <p:cNvSpPr txBox="1"/>
          <p:nvPr/>
        </p:nvSpPr>
        <p:spPr>
          <a:xfrm>
            <a:off x="1097280" y="2432304"/>
            <a:ext cx="4754880" cy="54864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Needs an OpenAI key. Largest live threat to every number here.</a:t>
            </a:r>
            <a:endParaRPr lang="en-US" sz="1150" dirty="0"/>
          </a:p>
        </p:txBody>
      </p:sp>
      <p:sp>
        <p:nvSpPr>
          <p:cNvPr id="8" name="Shape 6"/>
          <p:cNvSpPr/>
          <p:nvPr/>
        </p:nvSpPr>
        <p:spPr>
          <a:xfrm>
            <a:off x="685800" y="3145536"/>
            <a:ext cx="219456" cy="219456"/>
          </a:xfrm>
          <a:prstGeom prst="ellipse">
            <a:avLst/>
          </a:prstGeom>
          <a:solidFill>
            <a:srgbClr val="1C7293"/>
          </a:solidFill>
          <a:ln w="12700">
            <a:solidFill>
              <a:srgbClr val="1C7293"/>
            </a:solidFill>
            <a:prstDash val="solid"/>
          </a:ln>
        </p:spPr>
      </p:sp>
      <p:sp>
        <p:nvSpPr>
          <p:cNvPr id="9" name="Text 7"/>
          <p:cNvSpPr txBox="1"/>
          <p:nvPr/>
        </p:nvSpPr>
        <p:spPr>
          <a:xfrm>
            <a:off x="1097280" y="3063240"/>
            <a:ext cx="4754880" cy="320040"/>
          </a:xfrm>
          <a:prstGeom prst="rect">
            <a:avLst/>
          </a:prstGeom>
          <a:noFill/>
          <a:ln/>
        </p:spPr>
        <p:txBody>
          <a:bodyPr wrap="square" lIns="0" tIns="0" rIns="0" bIns="0" rtlCol="0" anchor="ctr"/>
          <a:lstStyle/>
          <a:p>
            <a:pPr indent="0" marL="0">
              <a:buNone/>
            </a:pPr>
            <a:r>
              <a:rPr lang="en-US" sz="1350" b="1" dirty="0">
                <a:solidFill>
                  <a:srgbClr val="1A1A1A"/>
                </a:solidFill>
                <a:latin typeface="Calibri" pitchFamily="34" charset="0"/>
                <a:ea typeface="Calibri" pitchFamily="34" charset="-122"/>
                <a:cs typeface="Calibri" pitchFamily="34" charset="-120"/>
              </a:rPr>
              <a:t>A frozen run at n = 300</a:t>
            </a:r>
            <a:endParaRPr lang="en-US" sz="1350" dirty="0"/>
          </a:p>
        </p:txBody>
      </p:sp>
      <p:sp>
        <p:nvSpPr>
          <p:cNvPr id="10" name="Text 8"/>
          <p:cNvSpPr txBox="1"/>
          <p:nvPr/>
        </p:nvSpPr>
        <p:spPr>
          <a:xfrm>
            <a:off x="1097280" y="3392424"/>
            <a:ext cx="4754880" cy="54864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Replay against a single-writer snapshot makes the large-sample result citable on its own.</a:t>
            </a:r>
            <a:endParaRPr lang="en-US" sz="1150" dirty="0"/>
          </a:p>
        </p:txBody>
      </p:sp>
      <p:sp>
        <p:nvSpPr>
          <p:cNvPr id="11" name="Shape 9"/>
          <p:cNvSpPr/>
          <p:nvPr/>
        </p:nvSpPr>
        <p:spPr>
          <a:xfrm>
            <a:off x="685800" y="4105656"/>
            <a:ext cx="219456" cy="219456"/>
          </a:xfrm>
          <a:prstGeom prst="ellipse">
            <a:avLst/>
          </a:prstGeom>
          <a:solidFill>
            <a:srgbClr val="1C7293"/>
          </a:solidFill>
          <a:ln w="12700">
            <a:solidFill>
              <a:srgbClr val="1C7293"/>
            </a:solidFill>
            <a:prstDash val="solid"/>
          </a:ln>
        </p:spPr>
      </p:sp>
      <p:sp>
        <p:nvSpPr>
          <p:cNvPr id="12" name="Text 10"/>
          <p:cNvSpPr txBox="1"/>
          <p:nvPr/>
        </p:nvSpPr>
        <p:spPr>
          <a:xfrm>
            <a:off x="1097280" y="4023360"/>
            <a:ext cx="4754880" cy="320040"/>
          </a:xfrm>
          <a:prstGeom prst="rect">
            <a:avLst/>
          </a:prstGeom>
          <a:noFill/>
          <a:ln/>
        </p:spPr>
        <p:txBody>
          <a:bodyPr wrap="square" lIns="0" tIns="0" rIns="0" bIns="0" rtlCol="0" anchor="ctr"/>
          <a:lstStyle/>
          <a:p>
            <a:pPr indent="0" marL="0">
              <a:buNone/>
            </a:pPr>
            <a:r>
              <a:rPr lang="en-US" sz="1350" b="1" dirty="0">
                <a:solidFill>
                  <a:srgbClr val="1A1A1A"/>
                </a:solidFill>
                <a:latin typeface="Calibri" pitchFamily="34" charset="0"/>
                <a:ea typeface="Calibri" pitchFamily="34" charset="-122"/>
                <a:cs typeface="Calibri" pitchFamily="34" charset="-120"/>
              </a:rPr>
              <a:t>Artifact packaging</a:t>
            </a:r>
            <a:endParaRPr lang="en-US" sz="1350" dirty="0"/>
          </a:p>
        </p:txBody>
      </p:sp>
      <p:sp>
        <p:nvSpPr>
          <p:cNvPr id="13" name="Text 11"/>
          <p:cNvSpPr txBox="1"/>
          <p:nvPr/>
        </p:nvSpPr>
        <p:spPr>
          <a:xfrm>
            <a:off x="1097280" y="4352544"/>
            <a:ext cx="4754880" cy="54864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Snapshots are the reproducibility asset; none archived. The n=300 one is 84 MB / 7,899 files.</a:t>
            </a:r>
            <a:endParaRPr lang="en-US" sz="1150" dirty="0"/>
          </a:p>
        </p:txBody>
      </p:sp>
      <p:sp>
        <p:nvSpPr>
          <p:cNvPr id="14" name="Shape 12"/>
          <p:cNvSpPr/>
          <p:nvPr/>
        </p:nvSpPr>
        <p:spPr>
          <a:xfrm>
            <a:off x="685800" y="5065776"/>
            <a:ext cx="219456" cy="219456"/>
          </a:xfrm>
          <a:prstGeom prst="ellipse">
            <a:avLst/>
          </a:prstGeom>
          <a:solidFill>
            <a:srgbClr val="6B7F3E"/>
          </a:solidFill>
          <a:ln w="12700">
            <a:solidFill>
              <a:srgbClr val="6B7F3E"/>
            </a:solidFill>
            <a:prstDash val="solid"/>
          </a:ln>
        </p:spPr>
      </p:sp>
      <p:sp>
        <p:nvSpPr>
          <p:cNvPr id="15" name="Text 13"/>
          <p:cNvSpPr txBox="1"/>
          <p:nvPr/>
        </p:nvSpPr>
        <p:spPr>
          <a:xfrm>
            <a:off x="1097280" y="4983480"/>
            <a:ext cx="4754880" cy="320040"/>
          </a:xfrm>
          <a:prstGeom prst="rect">
            <a:avLst/>
          </a:prstGeom>
          <a:noFill/>
          <a:ln/>
        </p:spPr>
        <p:txBody>
          <a:bodyPr wrap="square" lIns="0" tIns="0" rIns="0" bIns="0" rtlCol="0" anchor="ctr"/>
          <a:lstStyle/>
          <a:p>
            <a:pPr indent="0" marL="0">
              <a:buNone/>
            </a:pPr>
            <a:r>
              <a:rPr lang="en-US" sz="1350" b="1" dirty="0">
                <a:solidFill>
                  <a:srgbClr val="1A1A1A"/>
                </a:solidFill>
                <a:latin typeface="Calibri" pitchFamily="34" charset="0"/>
                <a:ea typeface="Calibri" pitchFamily="34" charset="-122"/>
                <a:cs typeface="Calibri" pitchFamily="34" charset="-120"/>
              </a:rPr>
              <a:t>Finish the self-reflective arm</a:t>
            </a:r>
            <a:endParaRPr lang="en-US" sz="1350" dirty="0"/>
          </a:p>
        </p:txBody>
      </p:sp>
      <p:sp>
        <p:nvSpPr>
          <p:cNvPr id="16" name="Text 14"/>
          <p:cNvSpPr txBox="1"/>
          <p:nvPr/>
        </p:nvSpPr>
        <p:spPr>
          <a:xfrm>
            <a:off x="1097280" y="5312664"/>
            <a:ext cx="4754880" cy="54864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~85 minutes. Answers the “no head-to-head baseline” objection directly.</a:t>
            </a:r>
            <a:endParaRPr lang="en-US" sz="1150" dirty="0"/>
          </a:p>
        </p:txBody>
      </p:sp>
      <p:sp>
        <p:nvSpPr>
          <p:cNvPr id="17" name="Text 15"/>
          <p:cNvSpPr txBox="1"/>
          <p:nvPr/>
        </p:nvSpPr>
        <p:spPr>
          <a:xfrm>
            <a:off x="6309360" y="1737360"/>
            <a:ext cx="5212080" cy="292608"/>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Milestones ahead</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309360" y="2084832"/>
          <a:ext cx="5212080" cy="914400"/>
        </p:xfrm>
        <a:graphic>
          <a:graphicData uri="http://schemas.openxmlformats.org/drawingml/2006/table">
            <a:tbl>
              <a:tblPr/>
              <a:tblGrid>
                <a:gridCol w="777240"/>
                <a:gridCol w="4434840"/>
              </a:tblGrid>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Wk</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Deliverable</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1E2761"/>
                    </a:solidFill>
                  </a:tcPr>
                </a:tc>
              </a:tr>
              <a:tr h="41148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Tool skeletons: eval · benchmark · guardrail · XAI · model</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1148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RISE package, then the seminar talk on Thu 24 Sep</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1148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6–7</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Evaluation tooling, then benchmark tooling — largely built</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11480">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20-page interim report  (15 pts)</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1148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9–11</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XAI traces · guardrails · Gemini and GPT backends</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r h="41148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12–13</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Paper submissions #2 and #3</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4F7FB"/>
                    </a:solidFill>
                  </a:tcPr>
                </a:tc>
              </a:tr>
              <a:tr h="411480">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14–15</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A1A1A"/>
                          </a:solidFill>
                          <a:latin typeface="Calibri" pitchFamily="34" charset="0"/>
                          <a:ea typeface="Calibri" pitchFamily="34" charset="-122"/>
                          <a:cs typeface="Calibri" pitchFamily="34" charset="-120"/>
                        </a:rPr>
                        <a:t>Refresh, then the 30-page final report  (15 pts)</a:t>
                      </a:r>
                      <a:endParaRPr lang="en-US" sz="1150" dirty="0">
                        <a:latin typeface="Calibri" charset="0"/>
                        <a:ea typeface="Calibri" charset="0"/>
                        <a:cs typeface="Calibri" charset="0"/>
                      </a:endParaRPr>
                    </a:p>
                  </a:txBody>
                  <a:tcPr marL="91440" marR="91440" marT="45720" marB="45720" anchor="ctr">
                    <a:lnL w="12700" cap="flat" cmpd="sng" algn="ctr">
                      <a:solidFill>
                        <a:srgbClr val="DDE3EC"/>
                      </a:solidFill>
                      <a:prstDash val="solid"/>
                      <a:round/>
                      <a:headEnd type="none" w="med" len="med"/>
                      <a:tailEnd type="none" w="med" len="med"/>
                    </a:lnL>
                    <a:lnR w="12700" cap="flat" cmpd="sng" algn="ctr">
                      <a:solidFill>
                        <a:srgbClr val="DDE3EC"/>
                      </a:solidFill>
                      <a:prstDash val="solid"/>
                      <a:round/>
                      <a:headEnd type="none" w="med" len="med"/>
                      <a:tailEnd type="none" w="med" len="med"/>
                    </a:lnR>
                    <a:lnT w="12700" cap="flat" cmpd="sng" algn="ctr">
                      <a:solidFill>
                        <a:srgbClr val="DDE3EC"/>
                      </a:solidFill>
                      <a:prstDash val="solid"/>
                      <a:round/>
                      <a:headEnd type="none" w="med" len="med"/>
                      <a:tailEnd type="none" w="med" len="med"/>
                    </a:lnT>
                    <a:lnB w="12700" cap="flat" cmpd="sng" algn="ctr">
                      <a:solidFill>
                        <a:srgbClr val="DDE3EC"/>
                      </a:solidFill>
                      <a:prstDash val="solid"/>
                      <a:round/>
                      <a:headEnd type="none" w="med" len="med"/>
                      <a:tailEnd type="none" w="med" len="med"/>
                    </a:lnB>
                    <a:solidFill>
                      <a:srgbClr val="FFFFFF"/>
                    </a:solidFill>
                  </a:tcPr>
                </a:tc>
              </a:tr>
            </a:tbl>
          </a:graphicData>
        </a:graphic>
      </p:graphicFrame>
      <p:sp>
        <p:nvSpPr>
          <p:cNvPr id="19" name="Text 16"/>
          <p:cNvSpPr txBox="1"/>
          <p:nvPr/>
        </p:nvSpPr>
        <p:spPr>
          <a:xfrm>
            <a:off x="640080" y="6172200"/>
            <a:ext cx="10911535" cy="320040"/>
          </a:xfrm>
          <a:prstGeom prst="rect">
            <a:avLst/>
          </a:prstGeom>
          <a:noFill/>
          <a:ln/>
        </p:spPr>
        <p:txBody>
          <a:bodyPr wrap="square" lIns="0" tIns="0" rIns="0" bIns="0" rtlCol="0" anchor="ctr"/>
          <a:lstStyle/>
          <a:p>
            <a:pPr indent="0" marL="0">
              <a:buNone/>
            </a:pPr>
            <a:r>
              <a:rPr lang="en-US" sz="1100" dirty="0">
                <a:solidFill>
                  <a:srgbClr val="5C6470"/>
                </a:solidFill>
                <a:latin typeface="Calibri" pitchFamily="34" charset="0"/>
                <a:ea typeface="Calibri" pitchFamily="34" charset="-122"/>
                <a:cs typeface="Calibri" pitchFamily="34" charset="-120"/>
              </a:rPr>
              <a:t>Live demo: software-update-questions.streamlit.app  ·  Evidence chain: eval_harness/FINDINGS.md  ·  Every number's run id: results/PROVENANCE.md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2026-09-03T20:37:27Z</dcterms:created>
  <dcterms:modified xsi:type="dcterms:W3CDTF">2026-09-03T20:37:27Z</dcterms:modified>
</cp:coreProperties>
</file>